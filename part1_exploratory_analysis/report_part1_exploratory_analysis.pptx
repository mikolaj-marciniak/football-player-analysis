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847F8-49BF-4932-ABB8-98ABCFA4876D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D3AAA-5C3F-41B5-895F-2F4C474487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4395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D3AAA-5C3F-41B5-895F-2F4C474487A0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2872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D3AAA-5C3F-41B5-895F-2F4C474487A0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282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815200-3C1A-BA7F-AE4C-2BF3302C5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7995F17-52D6-1DBF-F076-98FA01A01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75E1A5C-AE10-C855-76CA-1E8F5B40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7F49BAD-83FB-DF26-9A36-5D512D66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E344CF8-D9C9-C1B2-83E6-A02F0BC2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696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8EBE2E-EDBA-D3E3-B1D0-9AA8B122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163EFA-B7F9-854D-8CFC-15CC8D43B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5B8876A-6A97-0A85-E4B9-A9394035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682AEF1-F9CA-95AE-E53B-BEBBF2C0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95BDE96-F821-1664-7306-9447C489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976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EE7F64-480B-6D6D-E309-791302CD6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3509D9E-A59E-C9B9-E836-AA674EAE2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FC6A2F4-5EC7-8C32-76A1-D8E922E2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BE6903A-2BDF-70C7-9F0C-83115726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A9BCFA3-57D6-A590-3D68-F174E3CA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858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8C9017-D666-0B4D-49B6-A4449290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180C0A7-338F-972C-0E7E-11566BB80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D293C28-694A-3F53-FE1A-3AC5B3A5B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FCA3D50-D6BC-E5AD-A4F6-52054CBC2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172B5E6-C0EB-246F-DDAE-F786C471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A99D517-3AFD-48B6-040F-9E5E3665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119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1395CF-87CD-F995-E181-B0E82DC4B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2ED94D9-0257-AB76-A19D-E6C2F5ACD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5F26851-A250-7871-E40D-CEEC74F4B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E8A68D3-E402-C075-3E65-777278E18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AECD023-3747-A479-9A22-DAE99AE52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4BE3829-CC82-E59F-1B95-8DBA750B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E069FAE-A246-964F-B9C3-AC891A06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9488682-1431-826F-87B7-96B8C7F1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0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3350F5-E9A6-C470-DB25-EA0ADD1E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3294E59-E96F-B41B-ABFA-6C08A96D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A3AF6A0E-8852-43AD-67F1-861A10E58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C8D71BA-18E7-AA31-5B8A-02A620AC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24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3AB388D-FFE3-980F-B280-6FC21567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95B5346-5AE6-7A61-F3E5-52D3369C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E864344-4651-7320-BD85-95A5A9C4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5020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BDD6F2-A382-CDD2-C928-31CF6603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76EC06-E379-6778-8728-87C50D0AA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64AE39B-9D1B-C6F6-1070-499EBD4A8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E89B58E-9651-FA3F-6FC5-DC1BD5C8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64B5533-4E67-33E6-7CA2-7287EA5B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338DCA8-E776-6CF1-724E-059B6068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931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0EB25D-8EBD-C131-353E-08A51D2B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4E38AB5-8ED0-ADE2-BB03-A8F4C3071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0DF8A11-5E1C-8FE1-455A-23E800644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C60CE3F-8C66-FA86-7CDC-1CA2C89E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A0849F2-AC61-2107-87CD-62AC16D4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EF52BBC-AE9B-C214-988D-2D331F06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279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C6A4F6-D6E7-5349-2371-61E3BDF5E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209769D-B835-1C29-1418-6B3A685A9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7390BEA-E1E6-68CD-F908-8E8A933F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565EC69-060A-0203-B5A2-3C5F085FD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CAFC1A4-98C9-0C39-4377-1E44E61E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6069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597B24B3-BCA4-A3C4-71ED-BFCD873C4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BF86D3A-BFF1-1660-4E93-504D12CCD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00826E5-6B98-73BC-BE6D-A9A043DA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40A8D3C-D2D8-5F42-932E-67272306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B07EBA1-11F3-7C89-46C7-04C060243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5359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08F2479-D365-3047-6F22-65854351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E246D65-568D-84D0-6F02-59E4F7696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AFEE95D-26C8-DCC2-6835-4906CA213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46128-0B91-4B5D-9FBD-100AF523DAA2}" type="datetimeFigureOut">
              <a:rPr lang="pl-PL" smtClean="0"/>
              <a:t>03.04.2025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A121812-4509-057A-C48B-9296CCF81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2434B76-F0BE-9EDD-21C2-0CD402191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DDB373-D54C-453D-8E94-5978F715287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813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AF73A7-3FDA-6A23-6FDA-326E7E0020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MSiD</a:t>
            </a:r>
            <a:r>
              <a:rPr lang="pl-PL" dirty="0"/>
              <a:t> – Część1 - Raport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3D2D337-CD11-522B-74AE-6C19D29D9F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Mikołaj Marciniak 280602</a:t>
            </a:r>
          </a:p>
        </p:txBody>
      </p:sp>
    </p:spTree>
    <p:extLst>
      <p:ext uri="{BB962C8B-B14F-4D97-AF65-F5344CB8AC3E}">
        <p14:creationId xmlns:p14="http://schemas.microsoft.com/office/powerpoint/2010/main" val="3697836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9722FA-382F-25DC-709C-D5C627E1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0"/>
            <a:ext cx="10515600" cy="1325563"/>
          </a:xfrm>
        </p:spPr>
        <p:txBody>
          <a:bodyPr/>
          <a:lstStyle/>
          <a:p>
            <a:r>
              <a:rPr lang="pl-PL" dirty="0" err="1"/>
              <a:t>Boxplot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036001E-5C04-BB18-DC0E-046D18F99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181"/>
            <a:ext cx="4348311" cy="4780782"/>
          </a:xfrm>
        </p:spPr>
        <p:txBody>
          <a:bodyPr>
            <a:noAutofit/>
          </a:bodyPr>
          <a:lstStyle/>
          <a:p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 reprezentacji Polski jest 5 zawodników, którzy odstają oceną ogólną od innych. Największa ocena ogólna – Robert Lewandowski (92).</a:t>
            </a:r>
          </a:p>
          <a:p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Hiszpania ogólnie ma lepszych zawodników, co pokazuje miejsce </a:t>
            </a:r>
            <a:r>
              <a:rPr lang="pl-PL" sz="2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kwartyli</a:t>
            </a:r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jednak nie posiada piłkarza „wybitnego” jak Polska.</a:t>
            </a:r>
          </a:p>
          <a:p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 reprezentacji Hiszpanii jest jeden źle wyróżniający się piłkarz o ocenie ogólnej ok. 50, co w Polsce nie jest niczym niezwykłym.</a:t>
            </a:r>
          </a:p>
        </p:txBody>
      </p:sp>
      <p:pic>
        <p:nvPicPr>
          <p:cNvPr id="4" name="Obraz 3" descr="Obraz zawierający tekst, diagram, zrzut ekranu, li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F40A37C-B55D-07FB-0C2C-5782ED6BF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511" y="192651"/>
            <a:ext cx="6759688" cy="647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31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06ACD-74D4-6BE4-4321-C283D4C6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556DB5-1028-64B6-7EF6-821E084F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0"/>
            <a:ext cx="10515600" cy="1325563"/>
          </a:xfrm>
        </p:spPr>
        <p:txBody>
          <a:bodyPr/>
          <a:lstStyle/>
          <a:p>
            <a:r>
              <a:rPr lang="pl-PL" dirty="0" err="1"/>
              <a:t>Violinplot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23993AB-59B0-1A91-3340-4EF189C66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181"/>
            <a:ext cx="4348311" cy="4780782"/>
          </a:xfrm>
        </p:spPr>
        <p:txBody>
          <a:bodyPr>
            <a:noAutofit/>
          </a:bodyPr>
          <a:lstStyle/>
          <a:p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Wybrzuszenia przy niższej kontroli piłki, nawet w wyższych klasach rozgrywkowych, prawdopodobnie spowodowane umiejętnościami bramkarzy.</a:t>
            </a:r>
          </a:p>
          <a:p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Mediana w drugim stopniu rozgrywkowym jest wyższa niż w pierwszym. Może być to spowodowane słabszymi ligami zaliczanymi do 1 stopnia rozgrywkowego, które w rzeczywistości nie są najlepsze, np. Indian Super </a:t>
            </a:r>
            <a:r>
              <a:rPr lang="pl-PL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League</a:t>
            </a:r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pl-P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 przypadku stopnia 1 widzimy, że kontrola piłki u niektórych zawodnikó</a:t>
            </a:r>
            <a:r>
              <a:rPr lang="pl-PL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 osiąga niemal maksymalną wartość – jednak nie jest ich wielu.</a:t>
            </a:r>
            <a:endParaRPr lang="pl-P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D1EB3FB-81B5-3EAF-9822-A40EBA65C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2878" y="353961"/>
            <a:ext cx="7098469" cy="61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1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E9A8-D9DB-5160-0985-C995F81E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E56A24-DF09-E307-A01D-03CAA3A7F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0"/>
            <a:ext cx="10515600" cy="1325563"/>
          </a:xfrm>
        </p:spPr>
        <p:txBody>
          <a:bodyPr/>
          <a:lstStyle/>
          <a:p>
            <a:r>
              <a:rPr lang="pl-PL" dirty="0"/>
              <a:t>Error </a:t>
            </a:r>
            <a:r>
              <a:rPr lang="pl-PL" dirty="0" err="1"/>
              <a:t>bars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FB81FCC-2538-6331-9FD3-238870AC1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6181"/>
            <a:ext cx="4348311" cy="4780782"/>
          </a:xfrm>
        </p:spPr>
        <p:txBody>
          <a:bodyPr>
            <a:noAutofit/>
          </a:bodyPr>
          <a:lstStyle/>
          <a:p>
            <a:r>
              <a:rPr lang="pl-PL" sz="1800" dirty="0"/>
              <a:t>Na podstawie wykresów możemy zauważyć, że zawodnicy grający na pozycji lewego skrzydłowego (LW) ogólnie mają wyższe umiejętności podawania niż środkowi obrońcy (CB). Jednak zdarzają się przypadki, w których niektórzy obrońcy mają lepsze podania niż niektórzy skrzydłowi.</a:t>
            </a:r>
          </a:p>
          <a:p>
            <a:r>
              <a:rPr lang="pl-PL" sz="1800" dirty="0"/>
              <a:t>Dolny wykres przedstawia średnie wartości podawania dla obu pozycji wraz z przedziałami ufności, co pozwala nam ocenić stopień zróżnicowania tej cechy w każdej grupie. Odchylenie standardowe wskazuje, że wartości w obu przypadkach znajdują się stosunkowo blisko swoich średnich.</a:t>
            </a:r>
            <a:endParaRPr lang="pl-PL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76D9A67-3CD5-76ED-3125-6F17CCD31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7827" y="23820"/>
            <a:ext cx="4763869" cy="340518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A589C442-2209-07B7-B434-6042BD92A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13314" y="3585131"/>
            <a:ext cx="4092894" cy="317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32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0BADD-B887-B96C-3E99-E6F68136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76F4E6-1228-2383-1863-E7D3FB3C6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0"/>
            <a:ext cx="10515600" cy="1325563"/>
          </a:xfrm>
        </p:spPr>
        <p:txBody>
          <a:bodyPr/>
          <a:lstStyle/>
          <a:p>
            <a:r>
              <a:rPr lang="pl-PL" dirty="0"/>
              <a:t>Histogram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805FE82-6C72-094F-5027-4F68044D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33544"/>
            <a:ext cx="4348311" cy="4780782"/>
          </a:xfrm>
        </p:spPr>
        <p:txBody>
          <a:bodyPr/>
          <a:lstStyle/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Piłkarze raczej wybierają koszulki z numerem nie większym niż 40, co jest widoczne na wykresie.</a:t>
            </a:r>
          </a:p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Jest niewielu piłkarzy z liczbą 12 na plecach. Prawdopodobnie przez to, że jest to numer przeznaczony dla drugiego bramkarza, jednak nie każdy decyduje się na  niego.</a:t>
            </a:r>
          </a:p>
          <a:p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Spora część piłkarzy decyduje się na dziwne/niestandardowe numery, np. 99, czyli maksymalny możliwy.</a:t>
            </a:r>
            <a:endParaRPr lang="pl-PL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l-PL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48141596-8C42-C319-0706-9CA6CC9F2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3531" y="609515"/>
            <a:ext cx="7098468" cy="563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2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B0AF-4BD1-682F-5C9B-74738BB7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CCC402-BA3B-09A5-E959-497923F7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" y="0"/>
            <a:ext cx="10515600" cy="1325563"/>
          </a:xfrm>
        </p:spPr>
        <p:txBody>
          <a:bodyPr/>
          <a:lstStyle/>
          <a:p>
            <a:r>
              <a:rPr lang="pl-PL" dirty="0"/>
              <a:t>Histogram warunkowy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030986-2BD5-512E-7E95-A059BD59A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33544"/>
            <a:ext cx="4348311" cy="4780782"/>
          </a:xfrm>
        </p:spPr>
        <p:txBody>
          <a:bodyPr>
            <a:normAutofit/>
          </a:bodyPr>
          <a:lstStyle/>
          <a:p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Widzimy proporcje piłkarzy ok. 1/3 to zawodnicy lewonożni, a 2/3 to zawodnicy </a:t>
            </a:r>
            <a:r>
              <a:rPr lang="pl-PL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prawonożni</a:t>
            </a:r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Wyraźny spadek po 26 roku życia, co może oznaczać, że wielu piłkarzy osiągnęło już swój szczyt i odchodzą na piłkarską emeryturę do dobrze płatnych lig, z których większość nie znajduje się w grze FIFA22.</a:t>
            </a:r>
          </a:p>
          <a:p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 30 roku życia widać ciągłe spadki, co prawdopodobnie oznacza, że piłkarze w tym wieku masowo kończą swoje profesjonalne kariery.</a:t>
            </a:r>
            <a:endParaRPr lang="pl-PL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AAC24B0-9E2C-5A45-3839-A3DF219AC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3531" y="659862"/>
            <a:ext cx="7098469" cy="553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2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ED2F-2AD0-22E9-6B6B-6E1D91B4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E28A28-5A9A-F4AC-45BC-7E8EA6BD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71" y="0"/>
            <a:ext cx="10515600" cy="1325563"/>
          </a:xfrm>
        </p:spPr>
        <p:txBody>
          <a:bodyPr/>
          <a:lstStyle/>
          <a:p>
            <a:r>
              <a:rPr lang="pl-PL" dirty="0" err="1"/>
              <a:t>Heatmapa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3BE9649-BA4E-DFBD-A051-875682EE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33544"/>
            <a:ext cx="4348311" cy="4780782"/>
          </a:xfrm>
        </p:spPr>
        <p:txBody>
          <a:bodyPr>
            <a:normAutofit/>
          </a:bodyPr>
          <a:lstStyle/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Widzimy, że stopień korelacji wartości rynkowej oraz płacy zawodnika jest bardzo wysoki, ponieważ im lepszy jest piłkarz tym musi być droższy i więcej zarabiać.</a:t>
            </a:r>
          </a:p>
          <a:p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Również wysoki stopień korelacji ma wzrost i waga, co ma bardzo duży sensu, gdyż im wyżsi jesteśmy, tym więcej ważymy.</a:t>
            </a:r>
          </a:p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Za</a:t>
            </a:r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ujemny stopień korelacji ma zwinność i wzrost, im piłkarz jest wyższy tym ma większą masę i dłuższe kończyny, przez co trudniej mu wykonywać dynamiczne ruchy i zmiany kierunku.</a:t>
            </a:r>
            <a:endParaRPr lang="pl-PL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E51F104-7A42-DC8A-A1CA-74E511D3F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1624" y="432619"/>
            <a:ext cx="7028502" cy="581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2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222A1-822F-7D73-7F74-84E51D12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5FA09E-D56A-5F87-2F64-10041888F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68825"/>
            <a:ext cx="10515600" cy="1325563"/>
          </a:xfrm>
        </p:spPr>
        <p:txBody>
          <a:bodyPr/>
          <a:lstStyle/>
          <a:p>
            <a:r>
              <a:rPr lang="pl-PL" dirty="0"/>
              <a:t>Regresja liniowa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2F3CD0-F6FA-9AD4-CA95-ABF578CC4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33544"/>
            <a:ext cx="4348311" cy="4780782"/>
          </a:xfrm>
        </p:spPr>
        <p:txBody>
          <a:bodyPr>
            <a:noAutofit/>
          </a:bodyPr>
          <a:lstStyle/>
          <a:p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Widzimy, że w tym przypadku umiejętności bronienia środkowych obrońców mają bardzo mocny wpływ na ich ocenę ogólną.</a:t>
            </a:r>
          </a:p>
          <a:p>
            <a:r>
              <a:rPr lang="pl-PL" sz="2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Nie widać lekko przezroczystego pola wokół czerwonej linii, co oznacza, że średnia jest bardzo przewidywalna.</a:t>
            </a:r>
            <a:endParaRPr lang="pl-PL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l-PL" sz="2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Niektóre kropki (piłkarze) znajdują się daleko od linii, co sugeruje, że inne statystyki były u nich lepsze/gorsze, np. </a:t>
            </a:r>
            <a:r>
              <a:rPr lang="pl-PL" sz="2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szybkość lub fizyczność.</a:t>
            </a:r>
            <a:endParaRPr lang="pl-PL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3EDD8F0-A9DC-7490-7360-B6B44D1E8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1624" y="508357"/>
            <a:ext cx="7028502" cy="566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68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0134-4D7C-50CC-BFB1-ED06C057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8FE812-4A93-F6CD-64B1-55D9D068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68825"/>
            <a:ext cx="10515600" cy="1325563"/>
          </a:xfrm>
        </p:spPr>
        <p:txBody>
          <a:bodyPr/>
          <a:lstStyle/>
          <a:p>
            <a:r>
              <a:rPr lang="pl-PL" dirty="0"/>
              <a:t>PCA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5DE5C2B-594D-2376-B97A-EA06B43D8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1433544"/>
            <a:ext cx="4348311" cy="4780782"/>
          </a:xfrm>
        </p:spPr>
        <p:txBody>
          <a:bodyPr>
            <a:normAutofit/>
          </a:bodyPr>
          <a:lstStyle/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Zawodnicy Legii Warszawa są głównie w lewej części wykresu, co sugeruje, że pod </a:t>
            </a:r>
            <a:r>
              <a:rPr lang="pl-PL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względem niektórych z </a:t>
            </a:r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podanych umiejętności wyraźnie odstają od zawodników innych </a:t>
            </a:r>
            <a:r>
              <a:rPr lang="pl-PL" sz="2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klubów.</a:t>
            </a:r>
            <a:endParaRPr lang="pl-PL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l-PL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Kilku zawodników Manchesteru City pod względem tych statystyk są podobni do zawodników Legii.</a:t>
            </a:r>
          </a:p>
          <a:p>
            <a:r>
              <a:rPr lang="pl-PL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Jeden zawodnik Realu Madryt i Manchesteru City są do siebie podobni, jednak wyraźnie odstają od reszty zawodników.</a:t>
            </a:r>
            <a:endParaRPr lang="pl-PL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0722D40-2214-F234-9A46-BD423EDCB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1051" y="715297"/>
            <a:ext cx="6864072" cy="542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25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8A9C75-EF92-2637-4B44-197A41A5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Odpowiedzi na pytania: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878A6AB-6306-DEB5-A75F-9BE45B777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/>
              <a:t>Czy w zbiorze występują silnie skorelowane zmienne?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u="sng" dirty="0"/>
              <a:t>Na przykład wzrost i waga. </a:t>
            </a:r>
          </a:p>
          <a:p>
            <a:r>
              <a:rPr lang="pl-PL" dirty="0"/>
              <a:t> Jakie kategorie dominują w cechach kategorialnych?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u="sng" dirty="0"/>
              <a:t>Na przykład </a:t>
            </a:r>
            <a:r>
              <a:rPr lang="pl-PL" u="sng" dirty="0" err="1"/>
              <a:t>prawonożni</a:t>
            </a:r>
            <a:r>
              <a:rPr lang="pl-PL" u="sng" dirty="0"/>
              <a:t> nad lewonożnymi. </a:t>
            </a:r>
          </a:p>
          <a:p>
            <a:r>
              <a:rPr lang="pl-PL" dirty="0"/>
              <a:t> Czy cechy kategorialne, a szczególnie cecha docelowa (target), są zbalansowane? 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u="sng" dirty="0"/>
              <a:t>Na przykład cecha nazwisko jest zbalansowana, jednak cecha nogi dominującej już nie.</a:t>
            </a:r>
          </a:p>
          <a:p>
            <a:r>
              <a:rPr lang="pl-PL" dirty="0"/>
              <a:t>Czy wartości odstające mają istotny wpływ na dane? 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u="sng" dirty="0"/>
              <a:t>Nie, biorąc pod uwagę wielkość bazy odstające wartości nie zmienią np. średniej w wielkim stopniu.</a:t>
            </a:r>
          </a:p>
        </p:txBody>
      </p:sp>
    </p:spTree>
    <p:extLst>
      <p:ext uri="{BB962C8B-B14F-4D97-AF65-F5344CB8AC3E}">
        <p14:creationId xmlns:p14="http://schemas.microsoft.com/office/powerpoint/2010/main" val="138746989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696</Words>
  <Application>Microsoft Office PowerPoint</Application>
  <PresentationFormat>Panoramiczny</PresentationFormat>
  <Paragraphs>44</Paragraphs>
  <Slides>10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Motyw pakietu Office</vt:lpstr>
      <vt:lpstr>MSiD – Część1 - Raport</vt:lpstr>
      <vt:lpstr>Boxplot</vt:lpstr>
      <vt:lpstr>Violinplot</vt:lpstr>
      <vt:lpstr>Error bars</vt:lpstr>
      <vt:lpstr>Histogram</vt:lpstr>
      <vt:lpstr>Histogram warunkowy</vt:lpstr>
      <vt:lpstr>Heatmapa</vt:lpstr>
      <vt:lpstr>Regresja liniowa</vt:lpstr>
      <vt:lpstr>PCA</vt:lpstr>
      <vt:lpstr>Odpowiedzi na pytania: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Mikołaj Marciniak (280602)</dc:creator>
  <cp:lastModifiedBy>Mikołaj Marciniak (280602)</cp:lastModifiedBy>
  <cp:revision>76</cp:revision>
  <dcterms:created xsi:type="dcterms:W3CDTF">2025-04-02T14:06:57Z</dcterms:created>
  <dcterms:modified xsi:type="dcterms:W3CDTF">2025-04-03T16:17:40Z</dcterms:modified>
</cp:coreProperties>
</file>