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4" r:id="rId21"/>
    <p:sldId id="275" r:id="rId22"/>
    <p:sldId id="296" r:id="rId23"/>
    <p:sldId id="297" r:id="rId24"/>
    <p:sldId id="298" r:id="rId25"/>
    <p:sldId id="299" r:id="rId26"/>
    <p:sldId id="301" r:id="rId27"/>
    <p:sldId id="302" r:id="rId28"/>
    <p:sldId id="303" r:id="rId29"/>
    <p:sldId id="304" r:id="rId30"/>
    <p:sldId id="279" r:id="rId31"/>
    <p:sldId id="305" r:id="rId32"/>
    <p:sldId id="306" r:id="rId33"/>
    <p:sldId id="309" r:id="rId34"/>
    <p:sldId id="308" r:id="rId35"/>
    <p:sldId id="285" r:id="rId36"/>
    <p:sldId id="310" r:id="rId37"/>
    <p:sldId id="281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15:16:52.6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1150 411 24575,'-18'0'0,"1"0"0,0 1 0,0 1 0,0 0 0,0 2 0,-30 9 0,3 1 0,-85 15 0,89-22 0,0 2 0,0 2 0,-40 16 0,3 1 0,58-22 0,0 0 0,0 1 0,1 1 0,0 0 0,0 2 0,1 0 0,-23 18 0,-16 15 0,47-38 0,-1 2 0,1-1 0,1 1 0,-1 1 0,1-1 0,0 1 0,1 1 0,-13 18 0,12-11 0,1 0 0,1 1 0,0-1 0,1 1 0,1 1 0,0-1 0,2 1 0,-2 28 0,3-38 0,-4 32 0,-15 53 0,11-60 0,2 0 0,-4 54 0,9-66 0,-1 0 0,-1 1 0,0-2 0,-2 1 0,0 0 0,-2-1 0,0 0 0,-20 33 0,16-29 0,1 1 0,1 0 0,2 1 0,0 0 0,2 0 0,0 1 0,2 0 0,1 0 0,1 50 0,5 831 0,-3-581 0,0-319 0,2 1 0,-1-1 0,1 1 0,0-1 0,1 0 0,0 0 0,0 0 0,1-1 0,0 1 0,0-1 0,9 11 0,-7-9 0,-1 0 0,0 0 0,0 0 0,0 1 0,-1-1 0,-1 1 0,4 13 0,-1 9 0,1 0 0,2 0 0,23 57 0,-14-46 0,-9-21 0,0 0 0,1-1 0,0 0 0,2-1 0,1-1 0,0 1 0,20 19 0,-25-31 0,1 0 0,-2 1 0,1 0 0,-1 0 0,0 1 0,9 18 0,-11-18 0,0-1 0,1 1 0,1-1 0,0-1 0,0 1 0,0-1 0,1 0 0,0-1 0,15 11 0,11 5 0,47 23 0,-15-9 0,-27-12 0,14 8 0,1-2 0,67 28 0,-89-44 0,-2 1 0,0 1 0,-1 1 0,30 26 0,-20-15 0,-19-17 0,2 0 0,-1-1 0,2-1 0,-1-1 0,32 8 0,6 3 0,183 82 0,-120-62 0,-66-22 0,-10-5 0,0-2 0,1-2 0,0-2 0,1-3 0,54-1 0,-76-1 0,0 0 0,30 7 0,-26-3 0,36 1 0,168 21 0,-152-15 0,104 3 0,-141-17 0,1 3 0,-1 2 0,54 11 0,-11 5 0,1-4 0,1-4 0,130 1 0,-137-14 0,12 0 0,114 13 0,254 5 0,-392-17 0,-40-1 0,-1-2 0,1-1 0,60-15 0,-43-3 0,-40 17 0,0 0 0,0 1 0,14-5 0,41-2 0,-47 9 0,-1-1 0,1 0 0,15-7 0,7-4 0,67-36 0,-87 40 0,3-3 0,1 1 0,25-9 0,-20 10 0,30-17 0,-31 14 0,37-14 0,26-5 0,53-17 0,-117 42 0,0 2 0,1 1 0,44-2 0,-47 5 0,0-1 0,1-1 0,-1-1 0,-1-1 0,1-1 0,-1-1 0,0-1 0,37-21 0,-27 13 0,2 2 0,38-12 0,8-4 0,56-23 0,-126 49 0,-1 0 0,0-1 0,0-1 0,-1 0 0,0 0 0,0-1 0,0 0 0,-1-1 0,8-10 0,-8 10 0,0 0 0,0 0 0,1 1 0,0 0 0,0 0 0,1 1 0,0 0 0,14-6 0,3 2 0,1-1 0,-2-1 0,0-2 0,0-1 0,-2 0 0,31-27 0,-15 6 0,46-54 0,-74 75 0,0 0 0,-1 0 0,0-1 0,-2-1 0,0 1 0,13-39 0,-19 44 0,0 0 0,1 1 0,1-1 0,0 1 0,0 0 0,1 0 0,0 1 0,12-15 0,-11 17 0,-1-1 0,0 1 0,-1-1 0,0 0 0,0-1 0,-1 0 0,0 1 0,-1-1 0,5-18 0,-2-8 0,2-55 0,-2 21 0,-2 39 0,-1-6 0,2 1 0,20-69 0,-2 38 0,-10 34 0,-1-1 0,-2-1 0,-1 0 0,7-64 0,-13 77 0,0 0 0,2 0 0,12-36 0,4-18 0,-9 9 0,-2 1 0,-3-2 0,-3-81 0,-5-149 0,0 285 0,0 1 0,-2 0 0,1 0 0,-1-1 0,-1 2 0,-7-18 0,4 13 0,1 0 0,-6-30 0,3-39 0,9 65 0,-2-1 0,0 1 0,-2 0 0,0 0 0,-1 0 0,-1 0 0,-15-34 0,15 42 0,-9-13 0,-22-55 0,32 69 0,0 1 0,-1 1 0,0-1 0,-1 1 0,0 0 0,-1 0 0,0 1 0,0 0 0,-13-9 0,-13-15 0,-6-9 0,0-1 0,-50-40 0,24 27 0,-68-50 0,82 65 0,39 28 0,-1 2 0,1 0 0,-2 0 0,1 1 0,-18-7 0,-122-58 0,54 28 0,52 23 0,-78-25 0,109 43 0,-192-52 0,168 48 0,-1 2 0,1 3 0,-50-1 0,32 5 0,-117-15 0,158 13 0,-1-2 0,1 0 0,0-1 0,-30-13 0,28 10 0,-1 1 0,-1 1 0,1 1 0,-1 0 0,-24-1 0,17 3 0,1-2 0,-35-10 0,9-1 0,-111-18 0,104 29 0,-103 4 0,106 2 0,0-1 0,-63-10 0,22-8 0,52 8 0,1 2 0,-76-2 0,-613 11 0,690-3 0,-58-10 0,56 5 0,-51 0 0,97 7 0,-49 0 0,0-2 0,-65-11 0,83 8 0,0 1 0,1 2 0,-1 2 0,-63 6 0,-124 33 0,197-34 0,-7 1 0,-10 4 0,0-3 0,-69 4 0,83-9 0,-48 9 0,-16 1 0,66-9 0,0 0 0,0 2 0,1 0 0,-1 2 0,2 1 0,-1 0 0,1 1 0,-28 18 0,-119 57 0,147-74-195,-1 0 0,-1-1 0,0-2 0,0 0 0,0-1 0,-43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15:17:03.981"/>
    </inkml:context>
    <inkml:brush xml:id="br0">
      <inkml:brushProperty name="width" value="0.2" units="cm"/>
      <inkml:brushProperty name="height" value="0.2" units="cm"/>
      <inkml:brushProperty name="color" value="#AB008B"/>
    </inkml:brush>
  </inkml:definitions>
  <inkml:trace contextRef="#ctx0" brushRef="#br0">988 66 24575,'-44'1'0,"1"1"0,-60 12 0,41 0 0,-90 34 0,91-27 0,46-14 0,-1 0 0,1 2 0,0-1 0,1 2 0,0 0 0,-13 12 0,13-10 0,-1 0 0,0-2 0,-1 0 0,-33 17 0,38-21 0,1 0 0,0 1 0,0 0 0,0 1 0,1 0 0,0 1 0,1 0 0,0 0 0,-13 19 0,-19 20 0,25-32 0,0 1 0,1 0 0,-23 37 0,31-43 0,0 1 0,1 0 0,0 0 0,1 0 0,1 1 0,0 0 0,0-1 0,0 15 0,0 266 0,6-146 0,-4-122 0,-1-1 0,-1 0 0,-8 35 0,3-12 0,3 1 0,2 0 0,5 82 0,0-36 0,-2-65 0,4 77 0,-2-92 0,0-1 0,1 1 0,1-1 0,0 0 0,10 23 0,12 20 0,32 61 0,-37-81 0,2 3 0,1 0 0,2-1 0,44 50 0,-64-83 0,1-1 0,0 1 0,0-1 0,0 0 0,0-1 0,1 0 0,-1 0 0,1-1 0,0 0 0,0 0 0,0-1 0,0 0 0,11 1 0,22 4 0,58 9 0,30 6 0,-78-10 0,1-2 0,1-2 0,-1-3 0,62-3 0,-80-2 0,-23 0 0,1 0 0,-1 1 0,1 0 0,-1 1 0,1 0 0,-1 1 0,0 0 0,0 1 0,0 0 0,21 9 0,-24-8 0,-1 1 0,1-1 0,0-1 0,0 0 0,1 0 0,-1-1 0,1 1 0,-1-2 0,1 1 0,-1-1 0,1-1 0,0 0 0,0 0 0,-1 0 0,1-1 0,0-1 0,-1 1 0,1-1 0,-1-1 0,15-5 0,73-49 0,-77 45 0,79-56 0,-52 34 0,58-30 0,54-31 0,-145 87 0,-1-1 0,-1 0 0,1-1 0,-2-1 0,1 1 0,-2-1 0,1-1 0,-1 0 0,-1 0 0,12-25 0,-10 22 0,0 0 0,24-27 0,-26 35 0,0-1 0,-1-1 0,-1 1 0,1-1 0,-1-1 0,-1 1 0,0-1 0,0 0 0,-1 0 0,6-20 0,22-163 0,-21 122 0,-4 34 0,2-57 0,-9 46 0,-1 1 0,-15-88 0,7 74 0,8 47 0,-1-1 0,0 1 0,-1 0 0,0 0 0,-1 1 0,-1-1 0,0 1 0,-12-22 0,-14-8 0,-37-43 0,34 45 0,-31-24 0,-7-4 0,55 55 0,0 0 0,2-2 0,0 0 0,1 0 0,0-2 0,-12-20 0,21 27 0,-1 1 0,0 0 0,-1 0 0,0 1 0,0 0 0,-1 0 0,-1 1 0,1 0 0,-1 0 0,-19-12 0,-18-19 0,14 10 0,26 24 0,1-1 0,-1 0 0,1 0 0,0 0 0,0-1 0,-4-8 0,6 8 0,-2 1 0,1-1 0,-1 1 0,0 0 0,0 0 0,0 1 0,-7-6 0,-65-36 0,52 33 0,-41-30 0,51 33 0,-1 1 0,0 1 0,-1 0 0,0 1 0,0 0 0,-1 2 0,0 0 0,0 1 0,0 0 0,-20-1 0,21 3-455,1-1 0,-21-8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483AB-34E9-4B29-ABA9-0290CEC5D7F7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75B16-C46E-4C22-9B1B-7B91AB538D8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996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D3AAA-5C3F-41B5-895F-2F4C474487A0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2872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D3AAA-5C3F-41B5-895F-2F4C474487A0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28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319D05-9FC5-9A24-C7CE-4E3182850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C92AC80-0C69-A9E5-06AE-B3EC19A2B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2C2C6A8-33BA-69DB-AD34-D9D7E7E1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F2E5D1A-5D0B-5EF8-B1DD-28524CE2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0A28E88-44B3-FEE1-B922-A0B4884F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688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4CFF04-D996-E7C8-7D0D-27C6E8C1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AB8D99-2E66-518F-9956-565A7FE24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7C0BE-211C-0F0A-A41A-2B33BE78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99E5CCC-5224-B51B-5DD8-CF2D38BC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5E993BD-833D-1CB5-4361-9CADB8A5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746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BF97EF-236E-D3AF-5287-499FA1D3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0D2A3E6-1323-CC9F-61D4-F306A08F6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0983C6-0471-18AC-1911-CB028EA1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28703E8-E4BA-96AD-56CB-C7F1401D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2244D8-8C18-09B9-7C0B-814E5B8C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4163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95770C-6FF7-B5E4-F06F-DFB057EA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5F5AD2-B58E-EA3D-FFFE-816E87056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140AAC-018A-BAC4-D6F3-D013A692C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94ED61F-B561-592A-9EBE-F6A4F43D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05D65C9-169A-6E43-40A0-977936AD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81EB1E4-E88C-EC3A-19F8-14C26235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32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A00CA1-9086-093B-C203-EDD7A661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DA060D3-60A7-0423-F46E-0614C9D5E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8327E21-F7AE-0C77-4957-1A3600B3F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67530A0-FDFA-34CF-A77C-D435B9BEF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8647F2A-2E3D-81FD-971D-F2C83BF9D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EF47A5C-568C-F356-CD3E-0FC4F813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43A4F49-7786-DCB8-65E7-134F18AE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FA8BFCF-1894-09CD-B75C-FB7E3C09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4343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1C7346-E14F-2497-EBAE-E439B698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B103088-BCD0-A89D-0371-20292965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7B4180E-CC2B-93EB-AE63-F3FD21FD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1C3E00E-7F8A-6EEF-5665-705E003B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732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FC089FC-0DBD-3FC6-CB02-D0EFE36E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FA369B1-6E1A-6005-4C26-5DBDB1FE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3D2BB1D-91BD-0574-381E-5D1FF22C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263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ED08DF-155A-581B-24B6-591493727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360F85-00D5-1AEE-94CC-4AF77F53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CD508DE-BFC4-63BC-1E78-F1490A543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DCDA6CF-A9E2-2E90-A29E-2A96C4A2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1E6B350-2661-BDFA-D6CD-1A2247FAF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B73A1B1-4562-7729-5C20-6A668B43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275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854CF3-55D6-3D71-6303-8BC28AEF3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4CC8261-E2D3-0B78-FBFE-3D39B6D2E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361B0E1-6484-6B52-EFDF-B3A7B1364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3C3BBF9-F319-6A59-8CDB-148DD51C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96DB3C4-1D9F-BEB8-BD4A-74029239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2539323-64F5-BF81-3F1D-78C3743D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689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6F27FC-F834-8F83-6F23-7171F2E7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3EA8819-B99F-0465-FFAF-7CBD0BA12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AB84AAA-156A-028E-5CDA-2D980F64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C6229C-B8B7-4609-CA9B-AA3F6DD7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6BAF251-ADA4-0132-F3EF-419ED2FD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018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27658D5-FD32-F8EF-D1C8-AB96BA99B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B5CBDB7-2143-B620-4B84-256AC386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5492C98-5BD1-2A91-3583-001B5A82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CA1C90C-4AD7-C4C4-1523-2FDFBC7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E9618C-A6DC-B6CD-F16E-2EB4C664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789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2E27841-A677-10B8-0D45-8FB4376A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FEE8F0D-0275-D6BA-9E30-9201472CF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39825C-1D5E-1A67-C336-97CE1877B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AA7DF-C710-49DD-A040-BD5DF0D44D9C}" type="datetimeFigureOut">
              <a:rPr lang="pl-PL" smtClean="0"/>
              <a:t>08.06.2025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F513B04-9B50-D620-AB19-73C5A929E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58EC245-15B6-596C-133A-F883AC53C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16A55-8E02-495C-ACA3-7BE5A6F5A7D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439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AF73A7-3FDA-6A23-6FDA-326E7E002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MSiD</a:t>
            </a:r>
            <a:r>
              <a:rPr lang="pl-PL" dirty="0"/>
              <a:t> – Część1 - Raport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3D2D337-CD11-522B-74AE-6C19D29D9F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Marciniak 280602</a:t>
            </a:r>
          </a:p>
        </p:txBody>
      </p:sp>
    </p:spTree>
    <p:extLst>
      <p:ext uri="{BB962C8B-B14F-4D97-AF65-F5344CB8AC3E}">
        <p14:creationId xmlns:p14="http://schemas.microsoft.com/office/powerpoint/2010/main" val="369783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9722FA-382F-25DC-709C-D5C627E1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 err="1"/>
              <a:t>Boxplot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36001E-5C04-BB18-DC0E-046D18F9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4348311" cy="4780782"/>
          </a:xfrm>
        </p:spPr>
        <p:txBody>
          <a:bodyPr>
            <a:noAutofit/>
          </a:bodyPr>
          <a:lstStyle/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reprezentacji Polski jest 5 zawodników, którzy odstają oceną ogólną od innych. Największa ocena ogólna – Robert Lewandowski (92).</a:t>
            </a:r>
          </a:p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Hiszpania ogólnie ma lepszych zawodników, co pokazuje miejsce </a:t>
            </a:r>
            <a:r>
              <a:rPr lang="pl-PL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kwartyli</a:t>
            </a:r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jednak nie posiada piłkarza „wybitnego” jak Polska.</a:t>
            </a:r>
          </a:p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reprezentacji Hiszpanii jest jeden źle wyróżniający się piłkarz o ocenie ogólnej ok. 50, co w Polsce nie jest niczym niezwykłym.</a:t>
            </a:r>
          </a:p>
        </p:txBody>
      </p:sp>
      <p:pic>
        <p:nvPicPr>
          <p:cNvPr id="4" name="Obraz 3" descr="Obraz zawierający tekst, diagram, zrzut ekranu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F40A37C-B55D-07FB-0C2C-5782ED6B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511" y="192651"/>
            <a:ext cx="6759688" cy="647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3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6ACD-74D4-6BE4-4321-C283D4C6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556DB5-1028-64B6-7EF6-821E084F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 err="1"/>
              <a:t>Violinplot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3993AB-59B0-1A91-3340-4EF189C66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4348311" cy="4780782"/>
          </a:xfrm>
        </p:spPr>
        <p:txBody>
          <a:bodyPr>
            <a:noAutofit/>
          </a:bodyPr>
          <a:lstStyle/>
          <a:p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Wybrzuszenia przy niższej kontroli piłki, nawet w wyższych klasach rozgrywkowych, prawdopodobnie spowodowane umiejętnościami bramkarzy.</a:t>
            </a:r>
          </a:p>
          <a:p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Mediana w drugim stopniu rozgrywkowym jest wyższa niż w pierwszym. Może być to spowodowane słabszymi ligami zaliczanymi do 1 stopnia rozgrywkowego, które w rzeczywistości nie są najlepsze, np. Indian Super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League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przypadku stopnia 1 widzimy, że kontrola piłki u niektórych zawodnikó</a:t>
            </a:r>
            <a:r>
              <a:rPr lang="pl-PL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osiąga niemal maksymalną wartość – jednak nie jest ich wielu.</a:t>
            </a:r>
            <a:endParaRPr lang="pl-P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D1EB3FB-81B5-3EAF-9822-A40EBA65C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2878" y="353961"/>
            <a:ext cx="7098469" cy="61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1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9A8-D9DB-5160-0985-C995F81E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E56A24-DF09-E307-A01D-03CAA3A7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/>
              <a:t>Error </a:t>
            </a:r>
            <a:r>
              <a:rPr lang="pl-PL" dirty="0" err="1"/>
              <a:t>bars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B81FCC-2538-6331-9FD3-238870AC1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4348311" cy="4780782"/>
          </a:xfrm>
        </p:spPr>
        <p:txBody>
          <a:bodyPr>
            <a:noAutofit/>
          </a:bodyPr>
          <a:lstStyle/>
          <a:p>
            <a:r>
              <a:rPr lang="pl-PL" sz="1800" dirty="0"/>
              <a:t>Na podstawie wykresów możemy zauważyć, że zawodnicy grający na pozycji lewego skrzydłowego (LW) ogólnie mają wyższe umiejętności podawania niż środkowi obrońcy (CB). Jednak zdarzają się przypadki, w których niektórzy obrońcy mają lepsze podania niż niektórzy skrzydłowi.</a:t>
            </a:r>
          </a:p>
          <a:p>
            <a:r>
              <a:rPr lang="pl-PL" sz="1800" dirty="0"/>
              <a:t>Dolny wykres przedstawia średnie wartości podawania dla obu pozycji wraz z przedziałami ufności, co pozwala nam ocenić stopień zróżnicowania tej cechy w każdej grupie. Odchylenie standardowe wskazuje, że wartości w obu przypadkach znajdują się stosunkowo blisko swoich średnich.</a:t>
            </a:r>
            <a:endParaRPr lang="pl-PL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76D9A67-3CD5-76ED-3125-6F17CCD31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7827" y="23820"/>
            <a:ext cx="4763869" cy="340518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589C442-2209-07B7-B434-6042BD92A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3314" y="3585131"/>
            <a:ext cx="4092894" cy="317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3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BADD-B887-B96C-3E99-E6F68136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76F4E6-1228-2383-1863-E7D3FB3C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/>
              <a:t>Histogram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05FE82-6C72-094F-5027-4F68044D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/>
          <a:lstStyle/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Piłkarze raczej wybierają koszulki z numerem nie większym niż 40, co jest widoczne na wykresie.</a:t>
            </a: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Jest niewielu piłkarzy z liczbą 12 na plecach. Prawdopodobnie przez to, że jest to numer przeznaczony dla drugiego bramkarza, jednak nie każdy decyduje się na  niego.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Spora część piłkarzy decyduje się na dziwne/niestandardowe numery, np. 99, czyli maksymalny możliwy.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l-P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8141596-8C42-C319-0706-9CA6CC9F2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3531" y="609515"/>
            <a:ext cx="7098468" cy="56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2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B0AF-4BD1-682F-5C9B-74738BB7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CCC402-BA3B-09A5-E959-497923F7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" y="0"/>
            <a:ext cx="10515600" cy="1325563"/>
          </a:xfrm>
        </p:spPr>
        <p:txBody>
          <a:bodyPr/>
          <a:lstStyle/>
          <a:p>
            <a:r>
              <a:rPr lang="pl-PL" dirty="0"/>
              <a:t>Histogram warunkowy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030986-2BD5-512E-7E95-A059BD59A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rmAutofit/>
          </a:bodyPr>
          <a:lstStyle/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Widzimy proporcje piłkarzy ok. 1/3 to zawodnicy lewonożni, a 2/3 to zawodnicy </a:t>
            </a:r>
            <a:r>
              <a:rPr lang="pl-PL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prawonożni</a:t>
            </a:r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Wyraźny spadek po 26 roku życia, co może oznaczać, że wielu piłkarzy osiągnęło już swój szczyt i odchodzą na piłkarską emeryturę do dobrze płatnych lig, z których większość nie znajduje się w grze FIFA22.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 30 roku życia widać ciągłe spadki, co prawdopodobnie oznacza, że piłkarze w tym wieku masowo kończą swoje profesjonalne kariery.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AAC24B0-9E2C-5A45-3839-A3DF219AC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3531" y="659862"/>
            <a:ext cx="7098469" cy="55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2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ED2F-2AD0-22E9-6B6B-6E1D91B4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E28A28-5A9A-F4AC-45BC-7E8EA6BD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 err="1"/>
              <a:t>Heatmapa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BE9649-BA4E-DFBD-A051-875682EE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rmAutofit/>
          </a:bodyPr>
          <a:lstStyle/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Widzimy, że stopień korelacji wartości rynkowej oraz płacy zawodnika jest bardzo wysoki, ponieważ im lepszy jest piłkarz tym musi być droższy i więcej zarabiać.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Również wysoki stopień korelacji ma wzrost i waga, co ma bardzo duży sensu, gdyż im wyżsi jesteśmy, tym więcej ważymy.</a:t>
            </a: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Za</a:t>
            </a:r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ujemny stopień korelacji ma zwinność i wzrost, im piłkarz jest wyższy tym ma większą masę i dłuższe kończyny, przez co trudniej mu wykonywać dynamiczne ruchy i zmiany kierunku.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E51F104-7A42-DC8A-A1CA-74E511D3F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624" y="432619"/>
            <a:ext cx="7028502" cy="581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2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22A1-822F-7D73-7F74-84E51D12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5FA09E-D56A-5F87-2F64-10041888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68825"/>
            <a:ext cx="10515600" cy="1325563"/>
          </a:xfrm>
        </p:spPr>
        <p:txBody>
          <a:bodyPr/>
          <a:lstStyle/>
          <a:p>
            <a:r>
              <a:rPr lang="pl-PL" dirty="0"/>
              <a:t>Regresja liniowa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2F3CD0-F6FA-9AD4-CA95-ABF578CC4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Autofit/>
          </a:bodyPr>
          <a:lstStyle/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Widzimy, że w tym przypadku umiejętności bronienia środkowych obrońców mają bardzo mocny wpływ na ich ocenę ogólną.</a:t>
            </a:r>
          </a:p>
          <a:p>
            <a:r>
              <a:rPr lang="pl-PL" sz="2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Nie widać lekko przezroczystego pola wokół czerwonej linii, co oznacza, że średnia jest bardzo przewidywalna.</a:t>
            </a:r>
            <a:endParaRPr lang="pl-PL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Niektóre kropki (piłkarze) znajdują się daleko od linii, co sugeruje, że inne statystyki były u nich lepsze/gorsze, np. </a:t>
            </a:r>
            <a:r>
              <a:rPr lang="pl-PL" sz="2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szybkość lub fizyczność.</a:t>
            </a:r>
            <a:endParaRPr lang="pl-PL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3EDD8F0-A9DC-7490-7360-B6B44D1E8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624" y="508357"/>
            <a:ext cx="7028502" cy="56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6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0134-4D7C-50CC-BFB1-ED06C057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8FE812-4A93-F6CD-64B1-55D9D068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68825"/>
            <a:ext cx="10515600" cy="1325563"/>
          </a:xfrm>
        </p:spPr>
        <p:txBody>
          <a:bodyPr/>
          <a:lstStyle/>
          <a:p>
            <a:r>
              <a:rPr lang="pl-PL" dirty="0"/>
              <a:t>PCA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5DE5C2B-594D-2376-B97A-EA06B43D8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rmAutofit/>
          </a:bodyPr>
          <a:lstStyle/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Zawodnicy Legii Warszawa są głównie w lewej części wykresu, co sugeruje, że pod </a:t>
            </a:r>
            <a:r>
              <a:rPr lang="pl-PL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względem niektórych z </a:t>
            </a:r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podanych umiejętności wyraźnie odstają od zawodników innych </a:t>
            </a:r>
            <a:r>
              <a:rPr lang="pl-PL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klubów.</a:t>
            </a:r>
            <a:endParaRPr lang="pl-PL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Kilku zawodników Manchesteru City pod względem tych statystyk są podobni do zawodników Legii.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Jeden zawodnik Realu Madryt i Manchesteru City są do siebie podobni, jednak wyraźnie odstają od reszty zawodników.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0722D40-2214-F234-9A46-BD423EDCB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1051" y="715297"/>
            <a:ext cx="6864072" cy="54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2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8A9C75-EF92-2637-4B44-197A41A5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Odpowiedzi na pytania: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78A6AB-6306-DEB5-A75F-9BE45B777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Czy w zbiorze występują silnie skorelowane zmienne?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Na przykład wzrost i waga. </a:t>
            </a:r>
          </a:p>
          <a:p>
            <a:r>
              <a:rPr lang="pl-PL" dirty="0"/>
              <a:t> Jakie kategorie dominują w cechach kategorialnych?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Na przykład </a:t>
            </a:r>
            <a:r>
              <a:rPr lang="pl-PL" u="sng" dirty="0" err="1"/>
              <a:t>prawonożni</a:t>
            </a:r>
            <a:r>
              <a:rPr lang="pl-PL" u="sng" dirty="0"/>
              <a:t> nad lewonożnymi. </a:t>
            </a:r>
          </a:p>
          <a:p>
            <a:r>
              <a:rPr lang="pl-PL" dirty="0"/>
              <a:t> Czy cechy kategorialne, a szczególnie cecha docelowa (target), są zbalansowane? 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Na przykład cecha nazwisko jest zbalansowana, jednak cecha nogi dominującej już nie.</a:t>
            </a:r>
          </a:p>
          <a:p>
            <a:r>
              <a:rPr lang="pl-PL" dirty="0"/>
              <a:t>Czy wartości odstające mają istotny wpływ na dane? 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Nie, biorąc pod uwagę wielkość bazy odstające wartości nie zmienią np. średniej w wielkim stopniu.</a:t>
            </a:r>
          </a:p>
        </p:txBody>
      </p:sp>
    </p:spTree>
    <p:extLst>
      <p:ext uri="{BB962C8B-B14F-4D97-AF65-F5344CB8AC3E}">
        <p14:creationId xmlns:p14="http://schemas.microsoft.com/office/powerpoint/2010/main" val="138746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462308-179E-E9AA-F59C-99E05B775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MSiD</a:t>
            </a:r>
            <a:r>
              <a:rPr lang="pl-PL" dirty="0"/>
              <a:t> – Część2 - Raport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4721E40-E32D-958E-7589-520484CC4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Marciniak 280602</a:t>
            </a:r>
          </a:p>
        </p:txBody>
      </p:sp>
    </p:spTree>
    <p:extLst>
      <p:ext uri="{BB962C8B-B14F-4D97-AF65-F5344CB8AC3E}">
        <p14:creationId xmlns:p14="http://schemas.microsoft.com/office/powerpoint/2010/main" val="362956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1CFB96-2081-D2AA-BD6B-FA3A27C0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uczenia i dane wejściowe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D41F0D-5593-E40E-6C02-F90AC3C4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720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3200" dirty="0"/>
              <a:t>Celem projektu jest nauczenie modelu przewidywania </a:t>
            </a:r>
            <a:r>
              <a:rPr lang="pl-PL" sz="3200" b="1" dirty="0">
                <a:solidFill>
                  <a:schemeClr val="accent5"/>
                </a:solidFill>
              </a:rPr>
              <a:t>oceny ogólnej (</a:t>
            </a:r>
            <a:r>
              <a:rPr lang="pl-PL" sz="3200" b="1" dirty="0" err="1">
                <a:solidFill>
                  <a:schemeClr val="accent5"/>
                </a:solidFill>
              </a:rPr>
              <a:t>overall</a:t>
            </a:r>
            <a:r>
              <a:rPr lang="pl-PL" sz="3200" b="1" dirty="0">
                <a:solidFill>
                  <a:schemeClr val="accent5"/>
                </a:solidFill>
              </a:rPr>
              <a:t>) </a:t>
            </a:r>
            <a:r>
              <a:rPr lang="pl-PL" sz="3200" dirty="0"/>
              <a:t>piłkarza na podstawie 6 podstawowych statystyk: </a:t>
            </a:r>
            <a:r>
              <a:rPr lang="pl-PL" sz="3200" b="1" dirty="0">
                <a:solidFill>
                  <a:schemeClr val="accent6"/>
                </a:solidFill>
              </a:rPr>
              <a:t>pace, </a:t>
            </a:r>
            <a:r>
              <a:rPr lang="pl-PL" sz="3200" b="1" dirty="0" err="1">
                <a:solidFill>
                  <a:schemeClr val="accent6"/>
                </a:solidFill>
              </a:rPr>
              <a:t>shooting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passing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dribbling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defending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physic</a:t>
            </a:r>
            <a:r>
              <a:rPr lang="pl-PL" sz="3200" b="1" dirty="0">
                <a:solidFill>
                  <a:schemeClr val="accent6"/>
                </a:solidFill>
              </a:rPr>
              <a:t>. </a:t>
            </a:r>
            <a:r>
              <a:rPr lang="pl-PL" sz="3200" dirty="0"/>
              <a:t>Dane pochodzą z gry FIFA 22 (19239 rekordów).</a:t>
            </a:r>
            <a:endParaRPr lang="pl-PL" sz="3200" b="1" dirty="0">
              <a:solidFill>
                <a:schemeClr val="accent6"/>
              </a:solidFill>
            </a:endParaRPr>
          </a:p>
        </p:txBody>
      </p:sp>
      <p:pic>
        <p:nvPicPr>
          <p:cNvPr id="1028" name="Picture 4" descr="Robert Lewandowski drugim najlepszym piłkarzem w FIFA 22 | Eurogamer.pl">
            <a:extLst>
              <a:ext uri="{FF2B5EF4-FFF2-40B4-BE49-F238E27FC236}">
                <a16:creationId xmlns:a16="http://schemas.microsoft.com/office/drawing/2014/main" id="{02E93D38-8AB1-EA9D-E5DC-AF4CE52B5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256" y="1488999"/>
            <a:ext cx="5177272" cy="51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A356B613-46CC-F2FC-C0FC-2B1391F8E844}"/>
                  </a:ext>
                </a:extLst>
              </p14:cNvPr>
              <p14:cNvContentPartPr/>
              <p14:nvPr/>
            </p14:nvContentPartPr>
            <p14:xfrm>
              <a:off x="7786057" y="4591308"/>
              <a:ext cx="2607480" cy="168228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A356B613-46CC-F2FC-C0FC-2B1391F8E8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0057" y="4555668"/>
                <a:ext cx="2679120" cy="17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295D759C-70F0-78B8-7679-8B34BAC4F036}"/>
                  </a:ext>
                </a:extLst>
              </p14:cNvPr>
              <p14:cNvContentPartPr/>
              <p14:nvPr/>
            </p14:nvContentPartPr>
            <p14:xfrm>
              <a:off x="7903417" y="2080308"/>
              <a:ext cx="789120" cy="87876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295D759C-70F0-78B8-7679-8B34BAC4F0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7417" y="2044308"/>
                <a:ext cx="860760" cy="9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368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A37195-4BD2-2E99-37DE-5F7352B9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Badane modele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276028-FDCB-EF46-5D5A-62A9A28DD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Linear</a:t>
            </a:r>
            <a:r>
              <a:rPr lang="pl-PL" dirty="0"/>
              <a:t> </a:t>
            </a:r>
            <a:r>
              <a:rPr lang="pl-PL" dirty="0" err="1"/>
              <a:t>Regression</a:t>
            </a:r>
            <a:endParaRPr lang="pl-PL" dirty="0"/>
          </a:p>
          <a:p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endParaRPr lang="pl-PL" dirty="0"/>
          </a:p>
          <a:p>
            <a:r>
              <a:rPr lang="pl-PL" dirty="0"/>
              <a:t>SVM -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Vector</a:t>
            </a:r>
            <a:r>
              <a:rPr lang="pl-PL" dirty="0"/>
              <a:t> Machine</a:t>
            </a:r>
          </a:p>
          <a:p>
            <a:r>
              <a:rPr lang="pl-PL" dirty="0" err="1"/>
              <a:t>Closed</a:t>
            </a:r>
            <a:r>
              <a:rPr lang="pl-PL" dirty="0"/>
              <a:t> Form</a:t>
            </a:r>
          </a:p>
          <a:p>
            <a:r>
              <a:rPr lang="pl-PL" dirty="0"/>
              <a:t>Gradient </a:t>
            </a:r>
            <a:r>
              <a:rPr lang="pl-PL" dirty="0" err="1"/>
              <a:t>Descent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Dodatkowo porównamy czas nauki dla CPU i GPU. Wyniki będą przedstawiane przy pomocy MSE i R^2 dla zbiorów: treningowego, walidacyjnego i testowego.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6742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4C23F9-2A25-A7DA-C84A-A809C30B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9479F2E-6B27-69E4-E0FC-CB42ACFE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236"/>
            <a:ext cx="12192000" cy="21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19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77CAAF-FF10-8167-88E4-89B33189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Wykluczenie bramkarzy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2F5F45-0752-1844-77CB-349D7AFF2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Każdy bramkarz w wybranych cechach ma brak wartości (</a:t>
            </a:r>
            <a:r>
              <a:rPr lang="pl-PL" dirty="0" err="1"/>
              <a:t>NaN</a:t>
            </a:r>
            <a:r>
              <a:rPr lang="pl-PL" dirty="0"/>
              <a:t>), co zniekształca wyniki modelu. Dlatego postanowiłem sprawdzić co się stanie, gdy usunę rekordy bramkarzy, aby model uczył się na realnych danych graczy z pola. Zostaje wtedy 17107 rekordów.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326C2BB-422B-F969-1D5A-B88478F5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9" y="4487665"/>
            <a:ext cx="2764697" cy="109921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D1B9B2B-2449-9AC8-8BEA-2B4C49A9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935" y="4805053"/>
            <a:ext cx="7044041" cy="4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17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EB8F0D-A2D3-5ED3-3E94-1BB6ABC0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po wykluczeniu bramkarzy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E604D92-97EA-3797-565C-0691E99E9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5679"/>
            <a:ext cx="12192000" cy="21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40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DCB719-9CF8-FF1F-FB94-33F2242F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C34400-9F37-E1F1-7D0A-5B2C58D35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Usunięcie bramkarzy zwiększyło dokładność modeli.</a:t>
            </a:r>
          </a:p>
          <a:p>
            <a:r>
              <a:rPr lang="pl-PL" dirty="0"/>
              <a:t>SVM konsekwentnie uzyskuje najlepsze wyniki na danych testowych.</a:t>
            </a:r>
          </a:p>
          <a:p>
            <a:r>
              <a:rPr lang="pl-PL" dirty="0" err="1"/>
              <a:t>DecisionTree</a:t>
            </a:r>
            <a:r>
              <a:rPr lang="pl-PL" dirty="0"/>
              <a:t> przeucza się na danych treningowych.</a:t>
            </a:r>
          </a:p>
          <a:p>
            <a:r>
              <a:rPr lang="pl-PL" dirty="0" err="1"/>
              <a:t>LinearRegression</a:t>
            </a:r>
            <a:r>
              <a:rPr lang="pl-PL" dirty="0"/>
              <a:t> i pokrewne metody są stabilne, jednak w jakimś stopniu ustępują SVM.</a:t>
            </a:r>
          </a:p>
          <a:p>
            <a:r>
              <a:rPr lang="pl-PL" dirty="0"/>
              <a:t>Spodziewanym efektem są najlepsze wyniki do zbiorze testowym.</a:t>
            </a:r>
          </a:p>
        </p:txBody>
      </p:sp>
    </p:spTree>
    <p:extLst>
      <p:ext uri="{BB962C8B-B14F-4D97-AF65-F5344CB8AC3E}">
        <p14:creationId xmlns:p14="http://schemas.microsoft.com/office/powerpoint/2010/main" val="106788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734E-586C-8B16-4B6D-66717C33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6EFDF8-DE4C-7597-027F-019F5DDABA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MSiD</a:t>
            </a:r>
            <a:r>
              <a:rPr lang="pl-PL" dirty="0"/>
              <a:t> – Część3 - Raport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E9EE952-F61F-E108-7ADC-426CBE621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Marciniak 280602</a:t>
            </a:r>
          </a:p>
        </p:txBody>
      </p:sp>
    </p:spTree>
    <p:extLst>
      <p:ext uri="{BB962C8B-B14F-4D97-AF65-F5344CB8AC3E}">
        <p14:creationId xmlns:p14="http://schemas.microsoft.com/office/powerpoint/2010/main" val="8211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EB3B3E-29E4-C933-54D3-6641486F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1. Cross-</a:t>
            </a:r>
            <a:r>
              <a:rPr lang="pl-PL" dirty="0" err="1"/>
              <a:t>validation</a:t>
            </a:r>
            <a:r>
              <a:rPr lang="pl-PL" dirty="0"/>
              <a:t> i ewaluacja modelu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8314A2-8312-93EA-E13B-02701AAC1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Dane są dzielone na 3 podzbiory</a:t>
            </a:r>
          </a:p>
          <a:p>
            <a:r>
              <a:rPr lang="pl-PL" dirty="0"/>
              <a:t>Metryki ewaluacyjne: MSE, R^2</a:t>
            </a:r>
          </a:p>
          <a:p>
            <a:r>
              <a:rPr lang="pl-PL" dirty="0"/>
              <a:t>Dla każdego modelu zaprezentowane: wyniki dla każdego podzbioru, średnia wyników z każdego podzbioru</a:t>
            </a:r>
          </a:p>
        </p:txBody>
      </p:sp>
    </p:spTree>
    <p:extLst>
      <p:ext uri="{BB962C8B-B14F-4D97-AF65-F5344CB8AC3E}">
        <p14:creationId xmlns:p14="http://schemas.microsoft.com/office/powerpoint/2010/main" val="3158530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11BE-38FE-2D3A-EC8E-C58A3AEE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B3C542-BF7F-5710-938C-20B3436FB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30305"/>
            <a:ext cx="10515600" cy="1325563"/>
          </a:xfrm>
        </p:spPr>
        <p:txBody>
          <a:bodyPr/>
          <a:lstStyle/>
          <a:p>
            <a:r>
              <a:rPr lang="pl-PL" dirty="0"/>
              <a:t>Wyniki (Cross-</a:t>
            </a:r>
            <a:r>
              <a:rPr lang="pl-PL" dirty="0" err="1"/>
              <a:t>validation</a:t>
            </a:r>
            <a:r>
              <a:rPr lang="pl-PL" dirty="0"/>
              <a:t> i ewaluacja modelu)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CDC7FFC8-E59B-8CB0-DB16-03FD712FA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362"/>
            <a:ext cx="6105242" cy="3664406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E9DEC7B5-8882-6082-F321-15B718FB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0362"/>
            <a:ext cx="6120000" cy="3664406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EFC04A5B-2301-46FA-4047-658E2AC92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019" y="5155851"/>
            <a:ext cx="9211961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01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336F95-B5B5-CDEB-B37A-6192CB50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(Cross-</a:t>
            </a:r>
            <a:r>
              <a:rPr lang="pl-PL" dirty="0" err="1"/>
              <a:t>validation</a:t>
            </a:r>
            <a:r>
              <a:rPr lang="pl-PL" dirty="0"/>
              <a:t> i ewaluacja modelu)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81D717-B17D-EF4A-37A7-8B76F9AB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Stabilność miedzy zbiorami – dla większości modeli wartości MSE i R^2 są bardzo zbliżone na wszystkich podzbiorach.</a:t>
            </a:r>
          </a:p>
          <a:p>
            <a:r>
              <a:rPr lang="pl-PL" dirty="0"/>
              <a:t>Lekka niestabilność </a:t>
            </a:r>
            <a:r>
              <a:rPr lang="pl-PL" dirty="0" err="1"/>
              <a:t>GradientDescent</a:t>
            </a:r>
            <a:r>
              <a:rPr lang="pl-PL" dirty="0"/>
              <a:t> – w przypadku </a:t>
            </a:r>
            <a:r>
              <a:rPr lang="pl-PL" dirty="0" err="1"/>
              <a:t>GradientDescent</a:t>
            </a:r>
            <a:r>
              <a:rPr lang="pl-PL" dirty="0"/>
              <a:t> rozbieżności są nieco większe, co może wskazywać na większą wrażliwość na dobór danych treningowych.</a:t>
            </a:r>
          </a:p>
          <a:p>
            <a:r>
              <a:rPr lang="pl-PL" dirty="0"/>
              <a:t>Co gdyby wyniki były mocno oddalone na różnych podzbiorach? – mogłoby to oznaczać, że niektóre podzbiory są trudniejsze do nauki niż inne lub to, że zbiory są zbyt małe, aby dobrze się na nich uczyć.</a:t>
            </a:r>
          </a:p>
        </p:txBody>
      </p:sp>
    </p:spTree>
    <p:extLst>
      <p:ext uri="{BB962C8B-B14F-4D97-AF65-F5344CB8AC3E}">
        <p14:creationId xmlns:p14="http://schemas.microsoft.com/office/powerpoint/2010/main" val="1476454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68A247-C93E-C876-14DA-A70EC92D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2. Wykresy zbieżności i analiza błędów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5AB8D9-C8DD-260A-6615-01243951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Wykres błędu w zależności od epok</a:t>
            </a:r>
          </a:p>
          <a:p>
            <a:r>
              <a:rPr lang="pl-PL" dirty="0"/>
              <a:t>Porównanie błędów na zbiorze treningowym i walidacyjnym</a:t>
            </a:r>
          </a:p>
          <a:p>
            <a:r>
              <a:rPr lang="pl-PL" dirty="0"/>
              <a:t>Dodanie cech wielomianowych w celu zwiększenia złożoności modelu</a:t>
            </a:r>
          </a:p>
          <a:p>
            <a:r>
              <a:rPr lang="pl-PL" dirty="0" err="1"/>
              <a:t>PolynomialFeatures</a:t>
            </a:r>
            <a:r>
              <a:rPr lang="pl-PL" dirty="0"/>
              <a:t>: </a:t>
            </a:r>
            <a:r>
              <a:rPr lang="pl-PL" dirty="0" err="1"/>
              <a:t>degree</a:t>
            </a:r>
            <a:r>
              <a:rPr lang="pl-PL" dirty="0"/>
              <a:t> = 5</a:t>
            </a:r>
          </a:p>
          <a:p>
            <a:r>
              <a:rPr lang="pl-PL" dirty="0"/>
              <a:t>Wyniki na podstawie wyliczeń i wykresów</a:t>
            </a:r>
          </a:p>
        </p:txBody>
      </p:sp>
    </p:spTree>
    <p:extLst>
      <p:ext uri="{BB962C8B-B14F-4D97-AF65-F5344CB8AC3E}">
        <p14:creationId xmlns:p14="http://schemas.microsoft.com/office/powerpoint/2010/main" val="3058643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2EECAF-5699-B556-F616-F581FA89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(Wykresy zbieżności i analiza błędów)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DFCB21D-1F71-A591-17E2-6E7DA281D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4621"/>
            <a:ext cx="12192000" cy="1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51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5462-C92A-5482-522A-A6AC46F8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79255B-9E68-1F8F-24C0-1DB7047D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Wykresy (Wykresy zbieżności i analiza błędów)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7A28EE-B690-B9F9-3CF2-D6268062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Bez </a:t>
            </a:r>
            <a:r>
              <a:rPr lang="pl-PL" dirty="0" err="1"/>
              <a:t>PolynomialFeatures</a:t>
            </a:r>
            <a:r>
              <a:rPr lang="pl-PL" dirty="0"/>
              <a:t>		   Z </a:t>
            </a:r>
            <a:r>
              <a:rPr lang="pl-PL" dirty="0" err="1"/>
              <a:t>PolynomialFeatures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58BEA71-5300-DB56-F400-BAA84E1B3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8785"/>
            <a:ext cx="5947305" cy="464921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5FE7A3B6-D352-D01E-9535-BEEE9F242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05" y="2208785"/>
            <a:ext cx="5947307" cy="464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98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EAE1-C579-1088-B60E-E4C90310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488738-0FC1-7495-A06A-96A7CCF10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(Wykresy zbieżności i analiza błędów)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9C2333-535C-E5BA-ECC3-2EBB54DE6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pl-PL" dirty="0"/>
              <a:t>Model uczy się poprawnie - w obu przypadkach obserwujemy monotoniczny spadek błędu MSE, co świadczy o poprawnym uczeniu się modelu.</a:t>
            </a:r>
          </a:p>
          <a:p>
            <a:r>
              <a:rPr lang="pl-PL" dirty="0"/>
              <a:t>Brak </a:t>
            </a:r>
            <a:r>
              <a:rPr lang="pl-PL" dirty="0" err="1"/>
              <a:t>overfittingu</a:t>
            </a:r>
            <a:r>
              <a:rPr lang="pl-PL" dirty="0"/>
              <a:t> - krzywe błędu dla zbioru treningowego i walidacyjnego są niemal identyczne, co oznacza, że model generalizuje dobrze i nie przeucza się.</a:t>
            </a:r>
          </a:p>
          <a:p>
            <a:r>
              <a:rPr lang="pl-PL" dirty="0"/>
              <a:t>Dodanie </a:t>
            </a:r>
            <a:r>
              <a:rPr lang="pl-PL" dirty="0" err="1"/>
              <a:t>PolynomialFeatures</a:t>
            </a:r>
            <a:r>
              <a:rPr lang="pl-PL" dirty="0"/>
              <a:t> znacząco poprawia skuteczność – po dodaniu </a:t>
            </a:r>
            <a:r>
              <a:rPr lang="pl-PL" dirty="0" err="1"/>
              <a:t>PolynomialFeatures</a:t>
            </a:r>
            <a:r>
              <a:rPr lang="pl-PL" dirty="0"/>
              <a:t> widoczna jest znaczna poprawa modeli.</a:t>
            </a:r>
          </a:p>
          <a:p>
            <a:r>
              <a:rPr lang="pl-PL" dirty="0" err="1"/>
              <a:t>GradientDescent</a:t>
            </a:r>
            <a:r>
              <a:rPr lang="pl-PL" dirty="0"/>
              <a:t> działa stabilnie i przewidywalnie - krzywa kosztu dla </a:t>
            </a:r>
            <a:r>
              <a:rPr lang="pl-PL" dirty="0" err="1"/>
              <a:t>GradientDescent</a:t>
            </a:r>
            <a:r>
              <a:rPr lang="pl-PL" dirty="0"/>
              <a:t> jest płynna, bez nagłych skoków, co potwierdza stabilność implementacji i poprawność działania.</a:t>
            </a:r>
          </a:p>
        </p:txBody>
      </p:sp>
    </p:spTree>
    <p:extLst>
      <p:ext uri="{BB962C8B-B14F-4D97-AF65-F5344CB8AC3E}">
        <p14:creationId xmlns:p14="http://schemas.microsoft.com/office/powerpoint/2010/main" val="871148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C53FC-14A8-6AFD-0A84-6FD56951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3. </a:t>
            </a:r>
            <a:r>
              <a:rPr lang="pl-PL" dirty="0" err="1"/>
              <a:t>Regularyzacja</a:t>
            </a:r>
            <a:r>
              <a:rPr lang="pl-PL" dirty="0"/>
              <a:t> L1 i L2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A25B75-1FD8-1499-7694-3DBDA4810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Celem </a:t>
            </a:r>
            <a:r>
              <a:rPr lang="pl-PL" dirty="0" err="1"/>
              <a:t>regularyzacji</a:t>
            </a:r>
            <a:r>
              <a:rPr lang="pl-PL" dirty="0"/>
              <a:t> jest ograniczenie złożoności modelu i zapobieganie </a:t>
            </a:r>
            <a:r>
              <a:rPr lang="pl-PL" dirty="0" err="1"/>
              <a:t>overfittingowi</a:t>
            </a:r>
            <a:endParaRPr lang="pl-PL" dirty="0"/>
          </a:p>
          <a:p>
            <a:r>
              <a:rPr lang="pl-PL" dirty="0"/>
              <a:t>W badaniu porównano modele z </a:t>
            </a:r>
            <a:r>
              <a:rPr lang="pl-PL" dirty="0" err="1"/>
              <a:t>regularyzacją</a:t>
            </a:r>
            <a:r>
              <a:rPr lang="pl-PL" dirty="0"/>
              <a:t> L1 (Lasso), L2 (</a:t>
            </a:r>
            <a:r>
              <a:rPr lang="pl-PL" dirty="0" err="1"/>
              <a:t>Ridge</a:t>
            </a:r>
            <a:r>
              <a:rPr lang="pl-PL" dirty="0"/>
              <a:t>) oraz bez </a:t>
            </a:r>
            <a:r>
              <a:rPr lang="pl-PL" dirty="0" err="1"/>
              <a:t>regularyzacji</a:t>
            </a:r>
            <a:endParaRPr lang="pl-PL" dirty="0"/>
          </a:p>
          <a:p>
            <a:r>
              <a:rPr lang="pl-PL" dirty="0"/>
              <a:t>Sprawdzono wpływ </a:t>
            </a:r>
            <a:r>
              <a:rPr lang="pl-PL" dirty="0" err="1"/>
              <a:t>regularyzacji</a:t>
            </a:r>
            <a:r>
              <a:rPr lang="pl-PL" dirty="0"/>
              <a:t> na jakość predykcji oraz wartości wag</a:t>
            </a:r>
          </a:p>
          <a:p>
            <a:r>
              <a:rPr lang="pl-PL" dirty="0" err="1"/>
              <a:t>Regularyzacja</a:t>
            </a:r>
            <a:r>
              <a:rPr lang="pl-PL" dirty="0"/>
              <a:t> została dodana również do własnej implementacji regresji liniowej (</a:t>
            </a:r>
            <a:r>
              <a:rPr lang="pl-PL" dirty="0" err="1"/>
              <a:t>GradientDescent</a:t>
            </a:r>
            <a:r>
              <a:rPr lang="pl-PL" dirty="0"/>
              <a:t>)</a:t>
            </a:r>
          </a:p>
          <a:p>
            <a:r>
              <a:rPr lang="pl-PL" dirty="0" err="1"/>
              <a:t>RegAlpha</a:t>
            </a:r>
            <a:r>
              <a:rPr lang="pl-PL" dirty="0"/>
              <a:t> = 1.0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35973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C8BF21-6752-0CD4-0CEA-C3B4BA60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</a:t>
            </a:r>
            <a:r>
              <a:rPr lang="pl-PL" dirty="0" err="1"/>
              <a:t>Regularyzacja</a:t>
            </a:r>
            <a:r>
              <a:rPr lang="pl-PL" dirty="0"/>
              <a:t> L1 i L2)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59C9032-4F72-BBA5-16DC-0DEEAAAD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432"/>
            <a:ext cx="12192000" cy="307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8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375141-1C32-E1AD-9A06-93598E82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Wagi (</a:t>
            </a:r>
            <a:r>
              <a:rPr lang="pl-PL" dirty="0" err="1"/>
              <a:t>Regularyzacja</a:t>
            </a:r>
            <a:r>
              <a:rPr lang="pl-PL" dirty="0"/>
              <a:t> L1 i L2)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8303498-24EC-2A26-70C2-371F1E8B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2254903"/>
            <a:ext cx="11136279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56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8036B4-9F9C-7DE9-3408-EBD260F7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</a:t>
            </a:r>
            <a:r>
              <a:rPr lang="pl-PL" dirty="0" err="1"/>
              <a:t>Regularyzacja</a:t>
            </a:r>
            <a:r>
              <a:rPr lang="pl-PL" dirty="0"/>
              <a:t> L1 i L2)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492073-FD85-E2F7-5185-B3AB37AB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Brak poprawy dokładności dla Regresji Liniowej – </a:t>
            </a:r>
            <a:r>
              <a:rPr lang="pl-PL" dirty="0" err="1"/>
              <a:t>Ridge</a:t>
            </a:r>
            <a:r>
              <a:rPr lang="pl-PL" dirty="0"/>
              <a:t> i Lasso nie poprawiły wyników regresji liniowej, co może </a:t>
            </a:r>
            <a:r>
              <a:rPr lang="pl-PL" dirty="0" err="1"/>
              <a:t>świdczyć</a:t>
            </a:r>
            <a:r>
              <a:rPr lang="pl-PL" dirty="0"/>
              <a:t> o dobrym dopasowaniu danych bez </a:t>
            </a:r>
            <a:r>
              <a:rPr lang="pl-PL" dirty="0" err="1"/>
              <a:t>regularyzacji</a:t>
            </a:r>
            <a:r>
              <a:rPr lang="pl-PL" dirty="0"/>
              <a:t>.</a:t>
            </a:r>
          </a:p>
          <a:p>
            <a:r>
              <a:rPr lang="pl-PL" dirty="0"/>
              <a:t>Spadek jakości dla </a:t>
            </a:r>
            <a:r>
              <a:rPr lang="pl-PL" dirty="0" err="1"/>
              <a:t>GradientDescent</a:t>
            </a:r>
            <a:r>
              <a:rPr lang="pl-PL" dirty="0"/>
              <a:t> – z L1/L2 wypada dużo gorzej</a:t>
            </a:r>
          </a:p>
          <a:p>
            <a:r>
              <a:rPr lang="pl-PL" dirty="0"/>
              <a:t>Wpływ na wagi – Lasso zeruje część współczynników, co może prowadzić do uproszczenia modelu, natomiast </a:t>
            </a:r>
            <a:r>
              <a:rPr lang="pl-PL" dirty="0" err="1"/>
              <a:t>Ridge</a:t>
            </a:r>
            <a:r>
              <a:rPr lang="pl-PL" dirty="0"/>
              <a:t> zmniejsza wartości wag bez ich zerowania</a:t>
            </a:r>
          </a:p>
          <a:p>
            <a:r>
              <a:rPr lang="pl-PL" dirty="0"/>
              <a:t>Niepotrzebna </a:t>
            </a:r>
            <a:r>
              <a:rPr lang="pl-PL" dirty="0" err="1"/>
              <a:t>regularyzacja</a:t>
            </a:r>
            <a:r>
              <a:rPr lang="pl-PL" dirty="0"/>
              <a:t> szkodzi – </a:t>
            </a:r>
            <a:r>
              <a:rPr lang="pl-PL" dirty="0" err="1"/>
              <a:t>regularyzacja</a:t>
            </a:r>
            <a:r>
              <a:rPr lang="pl-PL" dirty="0"/>
              <a:t> przy wcześniej dobrze dopasowanych danych może doprowadzić do niedouczenia modelu</a:t>
            </a:r>
          </a:p>
        </p:txBody>
      </p:sp>
    </p:spTree>
    <p:extLst>
      <p:ext uri="{BB962C8B-B14F-4D97-AF65-F5344CB8AC3E}">
        <p14:creationId xmlns:p14="http://schemas.microsoft.com/office/powerpoint/2010/main" val="2099755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B62F27-5466-E1D3-E0ED-49D69283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4. Usprawnienie danych – balansowanie zbiorów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1B0ACA-ECC4-6774-3AD9-F247A41B1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Przekształcono zmianę celu z „</a:t>
            </a:r>
            <a:r>
              <a:rPr lang="pl-PL" dirty="0" err="1"/>
              <a:t>overall</a:t>
            </a:r>
            <a:r>
              <a:rPr lang="pl-PL" dirty="0"/>
              <a:t>” na „target” – słaby, średni, dobry.</a:t>
            </a:r>
          </a:p>
          <a:p>
            <a:r>
              <a:rPr lang="pl-PL" dirty="0"/>
              <a:t>Zastosowano 2 techniki: dla </a:t>
            </a:r>
            <a:r>
              <a:rPr lang="pl-PL" dirty="0" err="1"/>
              <a:t>Oversampling</a:t>
            </a:r>
            <a:r>
              <a:rPr lang="pl-PL" dirty="0"/>
              <a:t> – SMOTE, dla </a:t>
            </a:r>
            <a:r>
              <a:rPr lang="pl-PL" dirty="0" err="1"/>
              <a:t>Undersampling</a:t>
            </a:r>
            <a:r>
              <a:rPr lang="pl-PL" dirty="0"/>
              <a:t> – </a:t>
            </a:r>
            <a:r>
              <a:rPr lang="pl-PL" dirty="0" err="1"/>
              <a:t>NearMiss</a:t>
            </a:r>
            <a:r>
              <a:rPr lang="pl-PL" dirty="0"/>
              <a:t>.</a:t>
            </a:r>
          </a:p>
          <a:p>
            <a:r>
              <a:rPr lang="pl-PL" dirty="0"/>
              <a:t>Porównano wyniki modelu dla: oryginalnego zbioru, zbioru po </a:t>
            </a:r>
            <a:r>
              <a:rPr lang="pl-PL" dirty="0" err="1"/>
              <a:t>oversamplingu</a:t>
            </a:r>
            <a:r>
              <a:rPr lang="pl-PL" dirty="0"/>
              <a:t>, zbioru po </a:t>
            </a:r>
            <a:r>
              <a:rPr lang="pl-PL" dirty="0" err="1"/>
              <a:t>undersamplingu</a:t>
            </a:r>
            <a:r>
              <a:rPr lang="pl-PL" dirty="0"/>
              <a:t>.</a:t>
            </a:r>
          </a:p>
          <a:p>
            <a:r>
              <a:rPr lang="pl-PL" dirty="0"/>
              <a:t>Wykorzystano metryki klasyfikacji: precision, </a:t>
            </a:r>
            <a:r>
              <a:rPr lang="pl-PL" dirty="0" err="1"/>
              <a:t>recall</a:t>
            </a:r>
            <a:r>
              <a:rPr lang="pl-PL" dirty="0"/>
              <a:t>, f1-score.</a:t>
            </a:r>
          </a:p>
        </p:txBody>
      </p:sp>
    </p:spTree>
    <p:extLst>
      <p:ext uri="{BB962C8B-B14F-4D97-AF65-F5344CB8AC3E}">
        <p14:creationId xmlns:p14="http://schemas.microsoft.com/office/powerpoint/2010/main" val="645687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5F3FC8-BB0D-EF59-AE58-22FF0725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(Usprawnienie danych – balansowanie zbiorów)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FD6236F-6CBF-6117-9282-2EC886D5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51" y="2149804"/>
            <a:ext cx="5496692" cy="116221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970FF905-19A1-7CE9-55E8-CCD36F5B8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298" y="3997962"/>
            <a:ext cx="5515745" cy="114316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97E8D07C-978D-2E08-366E-917F65709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298" y="5601090"/>
            <a:ext cx="5515745" cy="1170886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CF4FE664-BF3E-4223-9E85-843FD39B2D87}"/>
              </a:ext>
            </a:extLst>
          </p:cNvPr>
          <p:cNvSpPr txBox="1"/>
          <p:nvPr/>
        </p:nvSpPr>
        <p:spPr>
          <a:xfrm>
            <a:off x="1081548" y="4349249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SMOTE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E292E91-9424-85E7-4C0A-CF48DDA0CA08}"/>
              </a:ext>
            </a:extLst>
          </p:cNvPr>
          <p:cNvSpPr txBox="1"/>
          <p:nvPr/>
        </p:nvSpPr>
        <p:spPr>
          <a:xfrm>
            <a:off x="589935" y="2448232"/>
            <a:ext cx="221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Bez </a:t>
            </a:r>
            <a:r>
              <a:rPr lang="pl-PL" dirty="0" err="1"/>
              <a:t>usprawnien</a:t>
            </a:r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E9F3FA19-2810-C36F-5AD9-96CA7453E862}"/>
              </a:ext>
            </a:extLst>
          </p:cNvPr>
          <p:cNvSpPr txBox="1"/>
          <p:nvPr/>
        </p:nvSpPr>
        <p:spPr>
          <a:xfrm>
            <a:off x="943897" y="6001867"/>
            <a:ext cx="169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NearMiss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09636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902A54-A5A6-A41B-73A9-63D7D598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(Usprawnienie danych – balansowanie zbiorów)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95A12F-E095-78C4-D976-F7BBA2EB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Model bez usprawnień – doświadcza typowego problemu niezbalansowanego zbioru – uczy się głownie klas dominujących</a:t>
            </a:r>
          </a:p>
          <a:p>
            <a:r>
              <a:rPr lang="pl-PL" dirty="0"/>
              <a:t>SMOTE – pomógł odzyskać ignorowaną klasę, jednak nieco pogorszył rozróżnialność klas blisko granicy</a:t>
            </a:r>
          </a:p>
          <a:p>
            <a:r>
              <a:rPr lang="pl-PL" dirty="0" err="1"/>
              <a:t>NearMiss</a:t>
            </a:r>
            <a:r>
              <a:rPr lang="pl-PL" dirty="0"/>
              <a:t> – również odzyskuje ignorowaną klasę, niższe f1-score niż przy SMOTE sugeruje utratę informacji po pomniejszeniu</a:t>
            </a:r>
          </a:p>
        </p:txBody>
      </p:sp>
    </p:spTree>
    <p:extLst>
      <p:ext uri="{BB962C8B-B14F-4D97-AF65-F5344CB8AC3E}">
        <p14:creationId xmlns:p14="http://schemas.microsoft.com/office/powerpoint/2010/main" val="2099349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896F8F-1C8F-1D9C-CD41-A9C1CDF5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5. Optymalizacja </a:t>
            </a:r>
            <a:r>
              <a:rPr lang="pl-PL" dirty="0" err="1"/>
              <a:t>hiperparametrów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BBA935-088A-8630-D6A2-15C42E621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Celem optymalizacji jest znalezienie najlepszych ustawień parametrów modelu</a:t>
            </a:r>
          </a:p>
          <a:p>
            <a:r>
              <a:rPr lang="pl-PL" dirty="0"/>
              <a:t>Wykorzystano metodę </a:t>
            </a:r>
            <a:r>
              <a:rPr lang="pl-PL" dirty="0" err="1"/>
              <a:t>GridSearchCV</a:t>
            </a:r>
            <a:r>
              <a:rPr lang="pl-PL" dirty="0"/>
              <a:t> do przeszukiwania przestrzeni </a:t>
            </a:r>
            <a:r>
              <a:rPr lang="pl-PL" dirty="0" err="1"/>
              <a:t>hiperparametrów</a:t>
            </a:r>
            <a:endParaRPr lang="pl-PL" dirty="0"/>
          </a:p>
          <a:p>
            <a:r>
              <a:rPr lang="pl-PL" dirty="0"/>
              <a:t>Testowano modele </a:t>
            </a:r>
            <a:r>
              <a:rPr lang="pl-PL" dirty="0" err="1"/>
              <a:t>DecisionTreeRegressor</a:t>
            </a:r>
            <a:r>
              <a:rPr lang="pl-PL" dirty="0"/>
              <a:t> oraz SVR</a:t>
            </a:r>
          </a:p>
          <a:p>
            <a:r>
              <a:rPr lang="pl-PL" dirty="0"/>
              <a:t>Metryka użyta do oceny to R^2</a:t>
            </a:r>
          </a:p>
        </p:txBody>
      </p:sp>
    </p:spTree>
    <p:extLst>
      <p:ext uri="{BB962C8B-B14F-4D97-AF65-F5344CB8AC3E}">
        <p14:creationId xmlns:p14="http://schemas.microsoft.com/office/powerpoint/2010/main" val="3914685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60D7-E5DA-1204-F4BD-96E0F128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D9C1E8-410A-25C4-DD2B-F62AF98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(Optymalizacja </a:t>
            </a:r>
            <a:r>
              <a:rPr lang="pl-PL" dirty="0" err="1"/>
              <a:t>hiperparametrów</a:t>
            </a:r>
            <a:r>
              <a:rPr lang="pl-PL" dirty="0"/>
              <a:t>) dla </a:t>
            </a:r>
            <a:r>
              <a:rPr lang="pl-PL" dirty="0" err="1"/>
              <a:t>DecisionTree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006F473-39B1-403C-CA76-6ED2574D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824974"/>
            <a:ext cx="7935432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94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4EF0D9-AB64-1742-47CA-7646CCA9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(Optymalizacja </a:t>
            </a:r>
            <a:r>
              <a:rPr lang="pl-PL" dirty="0" err="1"/>
              <a:t>hiperparametrów</a:t>
            </a:r>
            <a:r>
              <a:rPr lang="pl-PL" dirty="0"/>
              <a:t>) dla SVR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ABB7FA7-6EF6-0982-49D3-9E82220C9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1792516"/>
            <a:ext cx="8164064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90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866F32-E5C9-2948-6984-0F1FBD16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(Optymalizacja </a:t>
            </a:r>
            <a:r>
              <a:rPr lang="pl-PL" dirty="0" err="1"/>
              <a:t>hiperparametrów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0295E5-9AAE-9B7F-7FA5-B93BF1113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GridSearchCV</a:t>
            </a:r>
            <a:r>
              <a:rPr lang="pl-PL" dirty="0"/>
              <a:t> skutecznie poprawia modele – wyniki R² istotnie rosną po znalezieniu optymalnych parametrów (np. 0.9674 dla SVR).</a:t>
            </a:r>
          </a:p>
          <a:p>
            <a:r>
              <a:rPr lang="pl-PL" dirty="0"/>
              <a:t>Wpływ parametrów jest nieliniowy – niektóre kombinacje parametrów pogarszają wynik (np. bardzo płytkie drzewa).</a:t>
            </a:r>
          </a:p>
          <a:p>
            <a:r>
              <a:rPr lang="pl-PL" dirty="0"/>
              <a:t>Przeszukiwanie </a:t>
            </a:r>
            <a:r>
              <a:rPr lang="pl-PL" dirty="0" err="1"/>
              <a:t>hiperparametrów</a:t>
            </a:r>
            <a:r>
              <a:rPr lang="pl-PL" dirty="0"/>
              <a:t> jest kosztowne obliczeniowo, ale przynosi wyraźne korzyści jakościowe.</a:t>
            </a:r>
          </a:p>
        </p:txBody>
      </p:sp>
    </p:spTree>
    <p:extLst>
      <p:ext uri="{BB962C8B-B14F-4D97-AF65-F5344CB8AC3E}">
        <p14:creationId xmlns:p14="http://schemas.microsoft.com/office/powerpoint/2010/main" val="3245910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B055D2-2BE3-5689-396E-0F35DFAC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6. Ensemble </a:t>
            </a:r>
            <a:r>
              <a:rPr lang="pl-PL" dirty="0" err="1"/>
              <a:t>methods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1C1379-6560-9BBD-A235-3A0F95D21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Używane są 2 rodzaje ensemble </a:t>
            </a:r>
            <a:r>
              <a:rPr lang="pl-PL" dirty="0" err="1"/>
              <a:t>methods</a:t>
            </a:r>
            <a:r>
              <a:rPr lang="pl-PL" dirty="0"/>
              <a:t>: </a:t>
            </a:r>
            <a:r>
              <a:rPr lang="pl-PL" dirty="0" err="1"/>
              <a:t>VotingRegression</a:t>
            </a:r>
            <a:r>
              <a:rPr lang="pl-PL" dirty="0"/>
              <a:t> i </a:t>
            </a:r>
            <a:r>
              <a:rPr lang="pl-PL" dirty="0" err="1"/>
              <a:t>StackingRegression</a:t>
            </a:r>
            <a:endParaRPr lang="pl-PL" dirty="0"/>
          </a:p>
          <a:p>
            <a:r>
              <a:rPr lang="pl-PL" dirty="0"/>
              <a:t>Oba modele </a:t>
            </a:r>
            <a:r>
              <a:rPr lang="pl-PL" dirty="0" err="1"/>
              <a:t>używają:LinearRegression</a:t>
            </a:r>
            <a:r>
              <a:rPr lang="pl-PL" dirty="0"/>
              <a:t>, </a:t>
            </a:r>
            <a:r>
              <a:rPr lang="pl-PL" dirty="0" err="1"/>
              <a:t>DecisionTreeRegression</a:t>
            </a:r>
            <a:r>
              <a:rPr lang="pl-PL" dirty="0"/>
              <a:t> i SVR</a:t>
            </a:r>
          </a:p>
        </p:txBody>
      </p:sp>
    </p:spTree>
    <p:extLst>
      <p:ext uri="{BB962C8B-B14F-4D97-AF65-F5344CB8AC3E}">
        <p14:creationId xmlns:p14="http://schemas.microsoft.com/office/powerpoint/2010/main" val="2838212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C64288-8332-DFF1-80DF-A84581CF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(Ensemble </a:t>
            </a:r>
            <a:r>
              <a:rPr lang="pl-PL" dirty="0" err="1"/>
              <a:t>methods</a:t>
            </a:r>
            <a:r>
              <a:rPr lang="pl-PL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8386FE3-5406-C66F-9077-C1AE62E4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3081"/>
            <a:ext cx="12192000" cy="261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48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7DCD1E-89D8-A69B-531E-CAF74410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(Ensemble </a:t>
            </a:r>
            <a:r>
              <a:rPr lang="pl-PL" dirty="0" err="1"/>
              <a:t>methods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F93657-FDCD-23EF-D650-47D5F65E9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Modele ensemble osiągają bardzo dobre wyniki – w tym </a:t>
            </a:r>
            <a:r>
              <a:rPr lang="pl-PL" dirty="0" err="1"/>
              <a:t>StackingRegression</a:t>
            </a:r>
            <a:r>
              <a:rPr lang="pl-PL" dirty="0"/>
              <a:t> osiągnął najlepszy wynik ze wszystkich</a:t>
            </a:r>
          </a:p>
          <a:p>
            <a:r>
              <a:rPr lang="pl-PL" dirty="0" err="1"/>
              <a:t>Stacking</a:t>
            </a:r>
            <a:r>
              <a:rPr lang="pl-PL" dirty="0"/>
              <a:t> działa lepiej niż </a:t>
            </a:r>
            <a:r>
              <a:rPr lang="pl-PL" dirty="0" err="1"/>
              <a:t>Voting</a:t>
            </a:r>
            <a:r>
              <a:rPr lang="pl-PL" dirty="0"/>
              <a:t> – co oznacza, że </a:t>
            </a:r>
            <a:r>
              <a:rPr lang="pl-PL" dirty="0" err="1"/>
              <a:t>Stacking</a:t>
            </a:r>
            <a:r>
              <a:rPr lang="pl-PL" dirty="0"/>
              <a:t> lepiej uczył ważenia wyników bazowych modeli</a:t>
            </a:r>
          </a:p>
          <a:p>
            <a:r>
              <a:rPr lang="pl-PL" dirty="0"/>
              <a:t>Warto łączyć modele – ensemble wykorzystuje mocne strony modeli i </a:t>
            </a:r>
            <a:r>
              <a:rPr lang="pl-PL" dirty="0" err="1"/>
              <a:t>rekompensujete</a:t>
            </a:r>
            <a:r>
              <a:rPr lang="pl-PL" dirty="0"/>
              <a:t> słabe</a:t>
            </a:r>
          </a:p>
        </p:txBody>
      </p:sp>
    </p:spTree>
    <p:extLst>
      <p:ext uri="{BB962C8B-B14F-4D97-AF65-F5344CB8AC3E}">
        <p14:creationId xmlns:p14="http://schemas.microsoft.com/office/powerpoint/2010/main" val="26886698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D4836B-098A-BB64-A39E-FF90830B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7. </a:t>
            </a:r>
            <a:r>
              <a:rPr lang="pl-PL" dirty="0" err="1"/>
              <a:t>Mixture</a:t>
            </a:r>
            <a:r>
              <a:rPr lang="pl-PL" dirty="0"/>
              <a:t> of </a:t>
            </a:r>
            <a:r>
              <a:rPr lang="pl-PL" dirty="0" err="1"/>
              <a:t>Experts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14A863-7BE0-5E23-FD0F-20F7B4EE1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Model składa się z trzech ekspertów: </a:t>
            </a:r>
            <a:r>
              <a:rPr lang="pl-PL" dirty="0" err="1"/>
              <a:t>LinearRegression</a:t>
            </a:r>
            <a:r>
              <a:rPr lang="pl-PL" dirty="0"/>
              <a:t>, </a:t>
            </a:r>
            <a:r>
              <a:rPr lang="pl-PL" dirty="0" err="1"/>
              <a:t>DecisionTree</a:t>
            </a:r>
            <a:r>
              <a:rPr lang="pl-PL" dirty="0"/>
              <a:t> i SVR</a:t>
            </a:r>
          </a:p>
          <a:p>
            <a:r>
              <a:rPr lang="pl-PL" dirty="0"/>
              <a:t>Każdy model uczy się niezależnie dla tych samych danych</a:t>
            </a:r>
          </a:p>
          <a:p>
            <a:r>
              <a:rPr lang="pl-PL" dirty="0"/>
              <a:t>Model bramkujący (</a:t>
            </a:r>
            <a:r>
              <a:rPr lang="pl-PL" dirty="0" err="1"/>
              <a:t>LinearRegression</a:t>
            </a:r>
            <a:r>
              <a:rPr lang="pl-PL" dirty="0"/>
              <a:t>) uczy się przypisywać wagi do każdego eksperta</a:t>
            </a:r>
          </a:p>
          <a:p>
            <a:r>
              <a:rPr lang="pl-PL" dirty="0"/>
              <a:t>Końcowa predykcja to średnia ważona prognoz ekspertów</a:t>
            </a:r>
          </a:p>
        </p:txBody>
      </p:sp>
    </p:spTree>
    <p:extLst>
      <p:ext uri="{BB962C8B-B14F-4D97-AF65-F5344CB8AC3E}">
        <p14:creationId xmlns:p14="http://schemas.microsoft.com/office/powerpoint/2010/main" val="356095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C6FC3-E847-F5D5-6244-7408F56C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</a:t>
            </a:r>
            <a:r>
              <a:rPr lang="pl-PL" dirty="0" err="1"/>
              <a:t>Mixture</a:t>
            </a:r>
            <a:r>
              <a:rPr lang="pl-PL" dirty="0"/>
              <a:t> of </a:t>
            </a:r>
            <a:r>
              <a:rPr lang="pl-PL" dirty="0" err="1"/>
              <a:t>Experts</a:t>
            </a:r>
            <a:r>
              <a:rPr lang="pl-PL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5806473-3ABF-622E-BD62-629E574F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3444"/>
            <a:ext cx="12192000" cy="237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08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74756C-F8CF-F0EE-65B2-CD6EB985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</a:t>
            </a:r>
            <a:r>
              <a:rPr lang="pl-PL" dirty="0" err="1"/>
              <a:t>Mixture</a:t>
            </a:r>
            <a:r>
              <a:rPr lang="pl-PL" dirty="0"/>
              <a:t> of </a:t>
            </a:r>
            <a:r>
              <a:rPr lang="pl-PL" dirty="0" err="1"/>
              <a:t>Experts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26F94B-5EC5-5C8A-1190-34AF50999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Mixture</a:t>
            </a:r>
            <a:r>
              <a:rPr lang="pl-PL" dirty="0"/>
              <a:t> of </a:t>
            </a:r>
            <a:r>
              <a:rPr lang="pl-PL" dirty="0" err="1"/>
              <a:t>Experts</a:t>
            </a:r>
            <a:r>
              <a:rPr lang="pl-PL" dirty="0"/>
              <a:t> osiąga jedne z najlepszych wyników.</a:t>
            </a:r>
          </a:p>
          <a:p>
            <a:r>
              <a:rPr lang="pl-PL" dirty="0"/>
              <a:t>Wysokie R^2 na zbiorze walidacyjnym i testowym świadczy o tym, że model nie przeucza się.</a:t>
            </a:r>
          </a:p>
          <a:p>
            <a:r>
              <a:rPr lang="pl-PL" dirty="0"/>
              <a:t>Model efektywnie łączy mocne strony każdego modelu, co poprawia jakość predykcji.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60724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0CD5E-9777-5439-02FF-429F1B4D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8. Łączenie metod optymalizacji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D2EA87-1ADE-353A-7DCF-26E66A446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Łączenie metod przeprowadzę na modelu </a:t>
            </a:r>
            <a:r>
              <a:rPr lang="pl-PL" dirty="0" err="1"/>
              <a:t>GradientDescent</a:t>
            </a:r>
            <a:r>
              <a:rPr lang="pl-PL" dirty="0"/>
              <a:t>:</a:t>
            </a:r>
          </a:p>
          <a:p>
            <a:r>
              <a:rPr lang="pl-PL" dirty="0" err="1"/>
              <a:t>PolynomialFeatures</a:t>
            </a:r>
            <a:endParaRPr lang="pl-PL" dirty="0"/>
          </a:p>
          <a:p>
            <a:r>
              <a:rPr lang="pl-PL" dirty="0" err="1"/>
              <a:t>Ridge</a:t>
            </a:r>
            <a:endParaRPr lang="pl-PL" dirty="0"/>
          </a:p>
          <a:p>
            <a:r>
              <a:rPr lang="pl-PL" dirty="0"/>
              <a:t>Lasso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Reszta usprawnień dla tego modelu była niemożliwa do dodania.</a:t>
            </a:r>
          </a:p>
        </p:txBody>
      </p:sp>
    </p:spTree>
    <p:extLst>
      <p:ext uri="{BB962C8B-B14F-4D97-AF65-F5344CB8AC3E}">
        <p14:creationId xmlns:p14="http://schemas.microsoft.com/office/powerpoint/2010/main" val="21008706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FA881F-1E3F-C41F-68D5-7353711F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(Łączenie metod optymalizacji)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16E7134-8715-6FAF-8CA6-AB72A8B8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3154"/>
            <a:ext cx="12192000" cy="191014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0F1C02D-3FC8-D16E-5AFD-A2D85124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3295"/>
            <a:ext cx="9278645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77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A749DA-3D2C-F72A-FBC1-B31A288E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(Łączenie metod optymalizacji)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3EA5C3-541E-0B61-1FA2-5B875E722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Model z cechami wielomianowymi (bez </a:t>
            </a:r>
            <a:r>
              <a:rPr lang="pl-PL" dirty="0" err="1"/>
              <a:t>Ridge</a:t>
            </a:r>
            <a:r>
              <a:rPr lang="pl-PL" dirty="0"/>
              <a:t> lub Lasso) osiągał najlepsze wyniki</a:t>
            </a:r>
          </a:p>
          <a:p>
            <a:r>
              <a:rPr lang="pl-PL" dirty="0"/>
              <a:t>Dodawanie </a:t>
            </a:r>
            <a:r>
              <a:rPr lang="pl-PL" dirty="0" err="1"/>
              <a:t>Ridge</a:t>
            </a:r>
            <a:r>
              <a:rPr lang="pl-PL" dirty="0"/>
              <a:t> lub Lasso pogarszało wyniki</a:t>
            </a:r>
          </a:p>
          <a:p>
            <a:r>
              <a:rPr lang="pl-PL" dirty="0"/>
              <a:t>Wyniki cross – </a:t>
            </a:r>
            <a:r>
              <a:rPr lang="pl-PL" dirty="0" err="1"/>
              <a:t>validation</a:t>
            </a:r>
            <a:r>
              <a:rPr lang="pl-PL" dirty="0"/>
              <a:t> są bardzo zbliżone do tych na standardowym podziale, co świadczy o stabilności modeli i niewrażliwości na nierówność danych</a:t>
            </a:r>
          </a:p>
          <a:p>
            <a:r>
              <a:rPr lang="pl-PL" dirty="0" err="1"/>
              <a:t>Overfitting</a:t>
            </a:r>
            <a:r>
              <a:rPr lang="pl-PL" dirty="0"/>
              <a:t> nie występuje – w każdym modelu wyniki dla zbioru testowego/walidacyjnego są bardzo zbliżone do tych dla treningowego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5089586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1846</Words>
  <Application>Microsoft Office PowerPoint</Application>
  <PresentationFormat>Panoramiczny</PresentationFormat>
  <Paragraphs>158</Paragraphs>
  <Slides>45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Motyw pakietu Office</vt:lpstr>
      <vt:lpstr>MSiD – Część1 - Raport</vt:lpstr>
      <vt:lpstr>Boxplot</vt:lpstr>
      <vt:lpstr>Violinplot</vt:lpstr>
      <vt:lpstr>Error bars</vt:lpstr>
      <vt:lpstr>Histogram</vt:lpstr>
      <vt:lpstr>Histogram warunkowy</vt:lpstr>
      <vt:lpstr>Heatmapa</vt:lpstr>
      <vt:lpstr>Regresja liniowa</vt:lpstr>
      <vt:lpstr>PCA</vt:lpstr>
      <vt:lpstr>Odpowiedzi na pytania:</vt:lpstr>
      <vt:lpstr>MSiD – Część2 - Raport</vt:lpstr>
      <vt:lpstr>Cel uczenia i dane wejściowe</vt:lpstr>
      <vt:lpstr>Badane modele</vt:lpstr>
      <vt:lpstr>Wyniki</vt:lpstr>
      <vt:lpstr>Wykluczenie bramkarzy</vt:lpstr>
      <vt:lpstr>Wyniki po wykluczeniu bramkarzy</vt:lpstr>
      <vt:lpstr>Podsumowanie</vt:lpstr>
      <vt:lpstr>MSiD – Część3 - Raport</vt:lpstr>
      <vt:lpstr>1. Cross-validation i ewaluacja modelu</vt:lpstr>
      <vt:lpstr>Wyniki (Cross-validation i ewaluacja modelu)</vt:lpstr>
      <vt:lpstr>Wnioski (Cross-validation i ewaluacja modelu)</vt:lpstr>
      <vt:lpstr>2. Wykresy zbieżności i analiza błędów</vt:lpstr>
      <vt:lpstr>Wyniki (Wykresy zbieżności i analiza błędów)</vt:lpstr>
      <vt:lpstr>Wykresy (Wykresy zbieżności i analiza błędów)</vt:lpstr>
      <vt:lpstr>Wnioski (Wykresy zbieżności i analiza błędów)</vt:lpstr>
      <vt:lpstr>3. Regularyzacja L1 i L2</vt:lpstr>
      <vt:lpstr>Wyniki (Regularyzacja L1 i L2)</vt:lpstr>
      <vt:lpstr>Wagi (Regularyzacja L1 i L2)</vt:lpstr>
      <vt:lpstr>Wnioski (Regularyzacja L1 i L2)</vt:lpstr>
      <vt:lpstr>4. Usprawnienie danych – balansowanie zbiorów</vt:lpstr>
      <vt:lpstr>Wyniki (Usprawnienie danych – balansowanie zbiorów)</vt:lpstr>
      <vt:lpstr>Wnioski (Usprawnienie danych – balansowanie zbiorów)</vt:lpstr>
      <vt:lpstr>5. Optymalizacja hiperparametrów</vt:lpstr>
      <vt:lpstr>Wyniki (Optymalizacja hiperparametrów) dla DecisionTree</vt:lpstr>
      <vt:lpstr>Wyniki (Optymalizacja hiperparametrów) dla SVR</vt:lpstr>
      <vt:lpstr>Wnioski (Optymalizacja hiperparametrów)</vt:lpstr>
      <vt:lpstr>6. Ensemble methods</vt:lpstr>
      <vt:lpstr>Wyniki (Ensemble methods)</vt:lpstr>
      <vt:lpstr>Wnioski (Ensemble methods)</vt:lpstr>
      <vt:lpstr>7. Mixture of Experts</vt:lpstr>
      <vt:lpstr>Wyniki (Mixture of Experts)</vt:lpstr>
      <vt:lpstr>Wnioski (Mixture of Experts)</vt:lpstr>
      <vt:lpstr>8. Łączenie metod optymalizacji</vt:lpstr>
      <vt:lpstr>Wyniki (Łączenie metod optymalizacji)</vt:lpstr>
      <vt:lpstr>Wnioski (Łączenie metod optymalizacji)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Marciniak (280602)</dc:creator>
  <cp:lastModifiedBy>Mikołaj Marciniak (280602)</cp:lastModifiedBy>
  <cp:revision>166</cp:revision>
  <dcterms:created xsi:type="dcterms:W3CDTF">2025-06-06T12:45:25Z</dcterms:created>
  <dcterms:modified xsi:type="dcterms:W3CDTF">2025-06-08T20:24:41Z</dcterms:modified>
</cp:coreProperties>
</file>