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15:16:52.68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1150 411 24575,'-18'0'0,"1"0"0,0 1 0,0 1 0,0 0 0,0 2 0,-30 9 0,3 1 0,-85 15 0,89-22 0,0 2 0,0 2 0,-40 16 0,3 1 0,58-22 0,0 0 0,0 1 0,1 1 0,0 0 0,0 2 0,1 0 0,-23 18 0,-16 15 0,47-38 0,-1 2 0,1-1 0,1 1 0,-1 1 0,1-1 0,0 1 0,1 1 0,-13 18 0,12-11 0,1 0 0,1 1 0,0-1 0,1 1 0,1 1 0,0-1 0,2 1 0,-2 28 0,3-38 0,-4 32 0,-15 53 0,11-60 0,2 0 0,-4 54 0,9-66 0,-1 0 0,-1 1 0,0-2 0,-2 1 0,0 0 0,-2-1 0,0 0 0,-20 33 0,16-29 0,1 1 0,1 0 0,2 1 0,0 0 0,2 0 0,0 1 0,2 0 0,1 0 0,1 50 0,5 831 0,-3-581 0,0-319 0,2 1 0,-1-1 0,1 1 0,0-1 0,1 0 0,0 0 0,0 0 0,1-1 0,0 1 0,0-1 0,9 11 0,-7-9 0,-1 0 0,0 0 0,0 0 0,0 1 0,-1-1 0,-1 1 0,4 13 0,-1 9 0,1 0 0,2 0 0,23 57 0,-14-46 0,-9-21 0,0 0 0,1-1 0,0 0 0,2-1 0,1-1 0,0 1 0,20 19 0,-25-31 0,1 0 0,-2 1 0,1 0 0,-1 0 0,0 1 0,9 18 0,-11-18 0,0-1 0,1 1 0,1-1 0,0-1 0,0 1 0,0-1 0,1 0 0,0-1 0,15 11 0,11 5 0,47 23 0,-15-9 0,-27-12 0,14 8 0,1-2 0,67 28 0,-89-44 0,-2 1 0,0 1 0,-1 1 0,30 26 0,-20-15 0,-19-17 0,2 0 0,-1-1 0,2-1 0,-1-1 0,32 8 0,6 3 0,183 82 0,-120-62 0,-66-22 0,-10-5 0,0-2 0,1-2 0,0-2 0,1-3 0,54-1 0,-76-1 0,0 0 0,30 7 0,-26-3 0,36 1 0,168 21 0,-152-15 0,104 3 0,-141-17 0,1 3 0,-1 2 0,54 11 0,-11 5 0,1-4 0,1-4 0,130 1 0,-137-14 0,12 0 0,114 13 0,254 5 0,-392-17 0,-40-1 0,-1-2 0,1-1 0,60-15 0,-43-3 0,-40 17 0,0 0 0,0 1 0,14-5 0,41-2 0,-47 9 0,-1-1 0,1 0 0,15-7 0,7-4 0,67-36 0,-87 40 0,3-3 0,1 1 0,25-9 0,-20 10 0,30-17 0,-31 14 0,37-14 0,26-5 0,53-17 0,-117 42 0,0 2 0,1 1 0,44-2 0,-47 5 0,0-1 0,1-1 0,-1-1 0,-1-1 0,1-1 0,-1-1 0,0-1 0,37-21 0,-27 13 0,2 2 0,38-12 0,8-4 0,56-23 0,-126 49 0,-1 0 0,0-1 0,0-1 0,-1 0 0,0 0 0,0-1 0,0 0 0,-1-1 0,8-10 0,-8 10 0,0 0 0,0 0 0,1 1 0,0 0 0,0 0 0,1 1 0,0 0 0,14-6 0,3 2 0,1-1 0,-2-1 0,0-2 0,0-1 0,-2 0 0,31-27 0,-15 6 0,46-54 0,-74 75 0,0 0 0,-1 0 0,0-1 0,-2-1 0,0 1 0,13-39 0,-19 44 0,0 0 0,1 1 0,1-1 0,0 1 0,0 0 0,1 0 0,0 1 0,12-15 0,-11 17 0,-1-1 0,0 1 0,-1-1 0,0 0 0,0-1 0,-1 0 0,0 1 0,-1-1 0,5-18 0,-2-8 0,2-55 0,-2 21 0,-2 39 0,-1-6 0,2 1 0,20-69 0,-2 38 0,-10 34 0,-1-1 0,-2-1 0,-1 0 0,7-64 0,-13 77 0,0 0 0,2 0 0,12-36 0,4-18 0,-9 9 0,-2 1 0,-3-2 0,-3-81 0,-5-149 0,0 285 0,0 1 0,-2 0 0,1 0 0,-1-1 0,-1 2 0,-7-18 0,4 13 0,1 0 0,-6-30 0,3-39 0,9 65 0,-2-1 0,0 1 0,-2 0 0,0 0 0,-1 0 0,-1 0 0,-15-34 0,15 42 0,-9-13 0,-22-55 0,32 69 0,0 1 0,-1 1 0,0-1 0,-1 1 0,0 0 0,-1 0 0,0 1 0,0 0 0,-13-9 0,-13-15 0,-6-9 0,0-1 0,-50-40 0,24 27 0,-68-50 0,82 65 0,39 28 0,-1 2 0,1 0 0,-2 0 0,1 1 0,-18-7 0,-122-58 0,54 28 0,52 23 0,-78-25 0,109 43 0,-192-52 0,168 48 0,-1 2 0,1 3 0,-50-1 0,32 5 0,-117-15 0,158 13 0,-1-2 0,1 0 0,0-1 0,-30-13 0,28 10 0,-1 1 0,-1 1 0,1 1 0,-1 0 0,-24-1 0,17 3 0,1-2 0,-35-10 0,9-1 0,-111-18 0,104 29 0,-103 4 0,106 2 0,0-1 0,-63-10 0,22-8 0,52 8 0,1 2 0,-76-2 0,-613 11 0,690-3 0,-58-10 0,56 5 0,-51 0 0,97 7 0,-49 0 0,0-2 0,-65-11 0,83 8 0,0 1 0,1 2 0,-1 2 0,-63 6 0,-124 33 0,197-34 0,-7 1 0,-10 4 0,0-3 0,-69 4 0,83-9 0,-48 9 0,-16 1 0,66-9 0,0 0 0,0 2 0,1 0 0,-1 2 0,2 1 0,-1 0 0,1 1 0,-28 18 0,-119 57 0,147-74-195,-1 0 0,-1-1 0,0-2 0,0 0 0,0-1 0,-43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29T15:17:03.981"/>
    </inkml:context>
    <inkml:brush xml:id="br0">
      <inkml:brushProperty name="width" value="0.2" units="cm"/>
      <inkml:brushProperty name="height" value="0.2" units="cm"/>
      <inkml:brushProperty name="color" value="#AB008B"/>
    </inkml:brush>
  </inkml:definitions>
  <inkml:trace contextRef="#ctx0" brushRef="#br0">988 66 24575,'-44'1'0,"1"1"0,-60 12 0,41 0 0,-90 34 0,91-27 0,46-14 0,-1 0 0,1 2 0,0-1 0,1 2 0,0 0 0,-13 12 0,13-10 0,-1 0 0,0-2 0,-1 0 0,-33 17 0,38-21 0,1 0 0,0 1 0,0 0 0,0 1 0,1 0 0,0 1 0,1 0 0,0 0 0,-13 19 0,-19 20 0,25-32 0,0 1 0,1 0 0,-23 37 0,31-43 0,0 1 0,1 0 0,0 0 0,1 0 0,1 1 0,0 0 0,0-1 0,0 15 0,0 266 0,6-146 0,-4-122 0,-1-1 0,-1 0 0,-8 35 0,3-12 0,3 1 0,2 0 0,5 82 0,0-36 0,-2-65 0,4 77 0,-2-92 0,0-1 0,1 1 0,1-1 0,0 0 0,10 23 0,12 20 0,32 61 0,-37-81 0,2 3 0,1 0 0,2-1 0,44 50 0,-64-83 0,1-1 0,0 1 0,0-1 0,0 0 0,0-1 0,1 0 0,-1 0 0,1-1 0,0 0 0,0 0 0,0-1 0,0 0 0,11 1 0,22 4 0,58 9 0,30 6 0,-78-10 0,1-2 0,1-2 0,-1-3 0,62-3 0,-80-2 0,-23 0 0,1 0 0,-1 1 0,1 0 0,-1 1 0,1 0 0,-1 1 0,0 0 0,0 1 0,0 0 0,21 9 0,-24-8 0,-1 1 0,1-1 0,0-1 0,0 0 0,1 0 0,-1-1 0,1 1 0,-1-2 0,1 1 0,-1-1 0,1-1 0,0 0 0,0 0 0,-1 0 0,1-1 0,0-1 0,-1 1 0,1-1 0,-1-1 0,15-5 0,73-49 0,-77 45 0,79-56 0,-52 34 0,58-30 0,54-31 0,-145 87 0,-1-1 0,-1 0 0,1-1 0,-2-1 0,1 1 0,-2-1 0,1-1 0,-1 0 0,-1 0 0,12-25 0,-10 22 0,0 0 0,24-27 0,-26 35 0,0-1 0,-1-1 0,-1 1 0,1-1 0,-1-1 0,-1 1 0,0-1 0,0 0 0,-1 0 0,6-20 0,22-163 0,-21 122 0,-4 34 0,2-57 0,-9 46 0,-1 1 0,-15-88 0,7 74 0,8 47 0,-1-1 0,0 1 0,-1 0 0,0 0 0,-1 1 0,-1-1 0,0 1 0,-12-22 0,-14-8 0,-37-43 0,34 45 0,-31-24 0,-7-4 0,55 55 0,0 0 0,2-2 0,0 0 0,1 0 0,0-2 0,-12-20 0,21 27 0,-1 1 0,0 0 0,-1 0 0,0 1 0,0 0 0,-1 0 0,-1 1 0,1 0 0,-1 0 0,-19-12 0,-18-19 0,14 10 0,26 24 0,1-1 0,-1 0 0,1 0 0,0 0 0,0-1 0,-4-8 0,6 8 0,-2 1 0,1-1 0,-1 1 0,0 0 0,0 0 0,0 1 0,-7-6 0,-65-36 0,52 33 0,-41-30 0,51 33 0,-1 1 0,0 1 0,-1 0 0,0 1 0,0 0 0,-1 2 0,0 0 0,0 1 0,0 0 0,-20-1 0,21 3-455,1-1 0,-21-8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654A6D-0FB9-6C15-8051-813752E1F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D81EC8E-83B1-4337-BB4B-329105215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F1F0B66-9ED2-2184-C60F-9B69B7F7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A056D10-A4D9-E1BB-8782-C95B6D0F6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F7C5611-CDCB-3296-552A-301DFA16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214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CE6A9D-2BB8-EADA-A204-52F714220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0EDF7C-1B4E-5B11-EAC9-747653E00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5A5EA4-9941-676D-C5C4-5A7074453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BE30BDA-6EEB-0413-600B-51E4BC99E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C321369-622E-804D-B2FB-56076B99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1090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C5F296-08EB-94F0-6209-62D7EE00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8D84AF6-35AB-EBF1-2F4B-7ACE56093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E0F8EF8-CD29-8228-6AE7-CE777C74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92CAE67-7148-3AF7-4566-A24B64732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B6DCD4E-C022-A586-5D38-16C376791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3698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D4C991-E66C-DBAE-3EF7-4F34493E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D2447D-0A26-34E8-AB99-F373F87A0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EA17E43-B518-E95C-2CBC-B17ACBDE4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E30295F-B797-1D08-FD2A-E7A0E4C43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C0A65ED-2695-D40D-F55F-BC3BB35D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3D722D-2EB8-036F-7137-7594051B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61943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E64492-1C20-9592-13F8-E02D675B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5E19405-72D9-CF90-1F9A-B377F7AA1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6FB072D-0D4A-D037-A23B-F0AA90FE9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E59C537A-34F8-A71D-56E3-37D630530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6705A08-DE62-1FC9-E42D-F40664530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ABBDB5B-E5D6-F259-6794-13C56D77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3D5E684A-0C15-928B-F274-AB540742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6157A01-E691-6C55-0753-B3DE658B0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963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0F2228-47AF-08A5-10AF-A78A071A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3D1FC09-F6AC-54CC-127F-6D83B6B6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B40ED99-DB04-1167-5877-5CE6112E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A1FAF54-C025-121E-FC0C-C9E88748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360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6133797D-C008-DADC-810C-29C8ACD72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FA1EE24-BEFA-664C-43DB-F9B97592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0935AC1-B8CF-8FE6-F9FA-E504F2CE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592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256F29-8561-F1A9-EF58-98E9AC8B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8782CD3-0DD5-5746-CCD7-9EFA26AFB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B0FBAA3-6232-534D-C222-BE9211417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1D001062-8138-43C1-D119-24978CD8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DB2D6E9-DBB6-6690-3393-4AA63A47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61E0097-46D1-AD81-C98A-CC80CFF3D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5694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F82725-03F0-3D4F-4C8B-EC10F0BAF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80A31B0-3DC8-7E73-519F-18DA745E8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3310621-0C5E-6F37-182F-D12E2D402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3EC11D6-3C39-4B61-B57D-2706C94C5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9F7D957-9C1A-E3F2-047F-31C118708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1641DF8-C59C-EDB6-7E42-4F8E1D3E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4318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F3801DD-2BE5-7DE3-7554-087D5234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6A2036D-EEF3-786B-0B8E-D4C123AE3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82ED544-CCA5-D88F-2A95-0BFF96DBE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705D918-367F-F1D4-AB51-BDDA0FD01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943C386-CD3F-2373-A1C6-43B06639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740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6517074B-D6D7-E182-6BC2-CD38B9D96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B484106-054D-90D4-EA5B-F3707AAE1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884F5AC-F783-7002-6F7F-EF61FAA2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E7D63E7-A615-6240-2CC6-BD0B3E09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F62E2CA-A372-DAD3-7F4F-53354BFF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284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08EBFF87-C5C2-A830-5393-B149E81D9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8C06915-D273-527E-A9C3-9109ECF6E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D9F6C92-E571-2D1F-C9C7-0E57B6A5A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3F676-565F-4DD3-BA10-EEF9ECC2BB35}" type="datetimeFigureOut">
              <a:rPr lang="pl-PL" smtClean="0"/>
              <a:t>29.05.2025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16A007C-2B7D-5F26-A8F4-BF5DC6AE4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748F08F-5444-735F-C32F-7F20B8E6A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7E25E-7BA2-4112-9874-34472FE4B1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4988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462308-179E-E9AA-F59C-99E05B775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MSiD</a:t>
            </a:r>
            <a:r>
              <a:rPr lang="pl-PL" dirty="0"/>
              <a:t> – Część2 - Raport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4721E40-E32D-958E-7589-520484CC44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Mikołaj Marciniak 280602</a:t>
            </a:r>
          </a:p>
        </p:txBody>
      </p:sp>
    </p:spTree>
    <p:extLst>
      <p:ext uri="{BB962C8B-B14F-4D97-AF65-F5344CB8AC3E}">
        <p14:creationId xmlns:p14="http://schemas.microsoft.com/office/powerpoint/2010/main" val="362956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1CFB96-2081-D2AA-BD6B-FA3A27C06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 uczenia i dane wejściowe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0D41F0D-5593-E40E-6C02-F90AC3C45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67205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3200" dirty="0"/>
              <a:t>Celem projektu jest nauczenie modelu przewidywania </a:t>
            </a:r>
            <a:r>
              <a:rPr lang="pl-PL" sz="3200" b="1" dirty="0">
                <a:solidFill>
                  <a:schemeClr val="accent5"/>
                </a:solidFill>
              </a:rPr>
              <a:t>oceny ogólnej (</a:t>
            </a:r>
            <a:r>
              <a:rPr lang="pl-PL" sz="3200" b="1" dirty="0" err="1">
                <a:solidFill>
                  <a:schemeClr val="accent5"/>
                </a:solidFill>
              </a:rPr>
              <a:t>overall</a:t>
            </a:r>
            <a:r>
              <a:rPr lang="pl-PL" sz="3200" b="1" dirty="0">
                <a:solidFill>
                  <a:schemeClr val="accent5"/>
                </a:solidFill>
              </a:rPr>
              <a:t>) </a:t>
            </a:r>
            <a:r>
              <a:rPr lang="pl-PL" sz="3200" dirty="0"/>
              <a:t>piłkarza na podstawie 6 podstawowych statystyk: </a:t>
            </a:r>
            <a:r>
              <a:rPr lang="pl-PL" sz="3200" b="1" dirty="0">
                <a:solidFill>
                  <a:schemeClr val="accent6"/>
                </a:solidFill>
              </a:rPr>
              <a:t>pace, </a:t>
            </a:r>
            <a:r>
              <a:rPr lang="pl-PL" sz="3200" b="1" dirty="0" err="1">
                <a:solidFill>
                  <a:schemeClr val="accent6"/>
                </a:solidFill>
              </a:rPr>
              <a:t>shooting</a:t>
            </a:r>
            <a:r>
              <a:rPr lang="pl-PL" sz="3200" b="1" dirty="0">
                <a:solidFill>
                  <a:schemeClr val="accent6"/>
                </a:solidFill>
              </a:rPr>
              <a:t>, </a:t>
            </a:r>
            <a:r>
              <a:rPr lang="pl-PL" sz="3200" b="1" dirty="0" err="1">
                <a:solidFill>
                  <a:schemeClr val="accent6"/>
                </a:solidFill>
              </a:rPr>
              <a:t>passing</a:t>
            </a:r>
            <a:r>
              <a:rPr lang="pl-PL" sz="3200" b="1" dirty="0">
                <a:solidFill>
                  <a:schemeClr val="accent6"/>
                </a:solidFill>
              </a:rPr>
              <a:t>, </a:t>
            </a:r>
            <a:r>
              <a:rPr lang="pl-PL" sz="3200" b="1" dirty="0" err="1">
                <a:solidFill>
                  <a:schemeClr val="accent6"/>
                </a:solidFill>
              </a:rPr>
              <a:t>dribbling</a:t>
            </a:r>
            <a:r>
              <a:rPr lang="pl-PL" sz="3200" b="1" dirty="0">
                <a:solidFill>
                  <a:schemeClr val="accent6"/>
                </a:solidFill>
              </a:rPr>
              <a:t>, </a:t>
            </a:r>
            <a:r>
              <a:rPr lang="pl-PL" sz="3200" b="1" dirty="0" err="1">
                <a:solidFill>
                  <a:schemeClr val="accent6"/>
                </a:solidFill>
              </a:rPr>
              <a:t>defending</a:t>
            </a:r>
            <a:r>
              <a:rPr lang="pl-PL" sz="3200" b="1" dirty="0">
                <a:solidFill>
                  <a:schemeClr val="accent6"/>
                </a:solidFill>
              </a:rPr>
              <a:t>, </a:t>
            </a:r>
            <a:r>
              <a:rPr lang="pl-PL" sz="3200" b="1" dirty="0" err="1">
                <a:solidFill>
                  <a:schemeClr val="accent6"/>
                </a:solidFill>
              </a:rPr>
              <a:t>physic</a:t>
            </a:r>
            <a:r>
              <a:rPr lang="pl-PL" sz="3200" b="1" dirty="0">
                <a:solidFill>
                  <a:schemeClr val="accent6"/>
                </a:solidFill>
              </a:rPr>
              <a:t>. </a:t>
            </a:r>
            <a:r>
              <a:rPr lang="pl-PL" sz="3200" dirty="0"/>
              <a:t>Dane pochodzą z gry FIFA 22 (19239 rekordów).</a:t>
            </a:r>
            <a:endParaRPr lang="pl-PL" sz="3200" b="1" dirty="0">
              <a:solidFill>
                <a:schemeClr val="accent6"/>
              </a:solidFill>
            </a:endParaRPr>
          </a:p>
        </p:txBody>
      </p:sp>
      <p:pic>
        <p:nvPicPr>
          <p:cNvPr id="1028" name="Picture 4" descr="Robert Lewandowski drugim najlepszym piłkarzem w FIFA 22 | Eurogamer.pl">
            <a:extLst>
              <a:ext uri="{FF2B5EF4-FFF2-40B4-BE49-F238E27FC236}">
                <a16:creationId xmlns:a16="http://schemas.microsoft.com/office/drawing/2014/main" id="{02E93D38-8AB1-EA9D-E5DC-AF4CE52B5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256" y="1488999"/>
            <a:ext cx="5177272" cy="5177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A356B613-46CC-F2FC-C0FC-2B1391F8E844}"/>
                  </a:ext>
                </a:extLst>
              </p14:cNvPr>
              <p14:cNvContentPartPr/>
              <p14:nvPr/>
            </p14:nvContentPartPr>
            <p14:xfrm>
              <a:off x="7786057" y="4591308"/>
              <a:ext cx="2607480" cy="1682280"/>
            </p14:xfrm>
          </p:contentPart>
        </mc:Choice>
        <mc:Fallback xmlns=""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A356B613-46CC-F2FC-C0FC-2B1391F8E8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50057" y="4555668"/>
                <a:ext cx="2679120" cy="175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Pismo odręczne 6">
                <a:extLst>
                  <a:ext uri="{FF2B5EF4-FFF2-40B4-BE49-F238E27FC236}">
                    <a16:creationId xmlns:a16="http://schemas.microsoft.com/office/drawing/2014/main" id="{295D759C-70F0-78B8-7679-8B34BAC4F036}"/>
                  </a:ext>
                </a:extLst>
              </p14:cNvPr>
              <p14:cNvContentPartPr/>
              <p14:nvPr/>
            </p14:nvContentPartPr>
            <p14:xfrm>
              <a:off x="7903417" y="2080308"/>
              <a:ext cx="789120" cy="878760"/>
            </p14:xfrm>
          </p:contentPart>
        </mc:Choice>
        <mc:Fallback xmlns="">
          <p:pic>
            <p:nvPicPr>
              <p:cNvPr id="7" name="Pismo odręczne 6">
                <a:extLst>
                  <a:ext uri="{FF2B5EF4-FFF2-40B4-BE49-F238E27FC236}">
                    <a16:creationId xmlns:a16="http://schemas.microsoft.com/office/drawing/2014/main" id="{295D759C-70F0-78B8-7679-8B34BAC4F0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67417" y="2044308"/>
                <a:ext cx="860760" cy="95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3683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A37195-4BD2-2E99-37DE-5F7352B9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Badane modele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A276028-FDCB-EF46-5D5A-62A9A28DD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Linear</a:t>
            </a:r>
            <a:r>
              <a:rPr lang="pl-PL" dirty="0"/>
              <a:t> </a:t>
            </a:r>
            <a:r>
              <a:rPr lang="pl-PL" dirty="0" err="1"/>
              <a:t>Regression</a:t>
            </a:r>
            <a:endParaRPr lang="pl-PL" dirty="0"/>
          </a:p>
          <a:p>
            <a:r>
              <a:rPr lang="pl-PL" dirty="0" err="1"/>
              <a:t>Decision</a:t>
            </a:r>
            <a:r>
              <a:rPr lang="pl-PL" dirty="0"/>
              <a:t> </a:t>
            </a:r>
            <a:r>
              <a:rPr lang="pl-PL" dirty="0" err="1"/>
              <a:t>Tree</a:t>
            </a:r>
            <a:endParaRPr lang="pl-PL" dirty="0"/>
          </a:p>
          <a:p>
            <a:r>
              <a:rPr lang="pl-PL" dirty="0"/>
              <a:t>SVM - </a:t>
            </a:r>
            <a:r>
              <a:rPr lang="pl-PL" dirty="0" err="1"/>
              <a:t>Support</a:t>
            </a:r>
            <a:r>
              <a:rPr lang="pl-PL" dirty="0"/>
              <a:t> </a:t>
            </a:r>
            <a:r>
              <a:rPr lang="pl-PL" dirty="0" err="1"/>
              <a:t>Vector</a:t>
            </a:r>
            <a:r>
              <a:rPr lang="pl-PL" dirty="0"/>
              <a:t> Machine</a:t>
            </a:r>
          </a:p>
          <a:p>
            <a:r>
              <a:rPr lang="pl-PL" dirty="0" err="1"/>
              <a:t>Closed</a:t>
            </a:r>
            <a:r>
              <a:rPr lang="pl-PL" dirty="0"/>
              <a:t> Form</a:t>
            </a:r>
          </a:p>
          <a:p>
            <a:r>
              <a:rPr lang="pl-PL" dirty="0"/>
              <a:t>Gradient </a:t>
            </a:r>
            <a:r>
              <a:rPr lang="pl-PL" dirty="0" err="1"/>
              <a:t>Descent</a:t>
            </a:r>
            <a:endParaRPr lang="pl-PL" dirty="0"/>
          </a:p>
          <a:p>
            <a:pPr marL="0" indent="0">
              <a:buNone/>
            </a:pPr>
            <a:r>
              <a:rPr lang="pl-PL" dirty="0"/>
              <a:t>Dodatkowo porównamy czas nauki dla CPU i GPU. Wyniki będą przedstawiane przy pomocy MSE i R^2 dla zbiorów: treningowego, walidacyjnego i testowego.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6742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4C23F9-2A25-A7DA-C84A-A809C30B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9479F2E-6B27-69E4-E0FC-CB42ACFEC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9236"/>
            <a:ext cx="12192000" cy="21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19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77CAAF-FF10-8167-88E4-89B33189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Wykluczenie bramkarzy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2F5F45-0752-1844-77CB-349D7AFF2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Każdy bramkarz w wybranych cechach ma brak wartości (</a:t>
            </a:r>
            <a:r>
              <a:rPr lang="pl-PL" dirty="0" err="1"/>
              <a:t>NaN</a:t>
            </a:r>
            <a:r>
              <a:rPr lang="pl-PL" dirty="0"/>
              <a:t>), co zniekształca wyniki modelu. Dlatego postanowiłem sprawdzić co się stanie, gdy usunę rekordy bramkarzy, aby model uczył się na realnych danych graczy z pola. Zostaje wtedy 17107 rekordów.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326C2BB-422B-F969-1D5A-B88478F5D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09" y="4487665"/>
            <a:ext cx="2764697" cy="1099218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D1B9B2B-2449-9AC8-8BEA-2B4C49A9A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935" y="4805053"/>
            <a:ext cx="7044041" cy="46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1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EB8F0D-A2D3-5ED3-3E94-1BB6ABC0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Wyniki po wykluczeniu bramkarzy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E604D92-97EA-3797-565C-0691E99E9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25679"/>
            <a:ext cx="12192000" cy="217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4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DCB719-9CF8-FF1F-FB94-33F2242F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Podsumowanie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C34400-9F37-E1F1-7D0A-5B2C58D35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Usunięcie bramkarzy zwiększyło dokładność modeli.</a:t>
            </a:r>
          </a:p>
          <a:p>
            <a:r>
              <a:rPr lang="pl-PL" dirty="0"/>
              <a:t>SVM konsekwentnie uzyskuje najlepsze wyniki na danych testowych.</a:t>
            </a:r>
          </a:p>
          <a:p>
            <a:r>
              <a:rPr lang="pl-PL" dirty="0" err="1"/>
              <a:t>DecisionTree</a:t>
            </a:r>
            <a:r>
              <a:rPr lang="pl-PL" dirty="0"/>
              <a:t> przeucza się na danych treningowych.</a:t>
            </a:r>
          </a:p>
          <a:p>
            <a:r>
              <a:rPr lang="pl-PL" dirty="0" err="1"/>
              <a:t>LinearRegression</a:t>
            </a:r>
            <a:r>
              <a:rPr lang="pl-PL" dirty="0"/>
              <a:t> i pokrewne metody są stabilne, jednak w jakimś stopniu ustępują SVM.</a:t>
            </a:r>
          </a:p>
          <a:p>
            <a:r>
              <a:rPr lang="pl-PL" dirty="0"/>
              <a:t>Spodziewanym efektem są najlepsze wyniki do zbiorze testowym.</a:t>
            </a:r>
          </a:p>
        </p:txBody>
      </p:sp>
    </p:spTree>
    <p:extLst>
      <p:ext uri="{BB962C8B-B14F-4D97-AF65-F5344CB8AC3E}">
        <p14:creationId xmlns:p14="http://schemas.microsoft.com/office/powerpoint/2010/main" val="106788334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193</Words>
  <Application>Microsoft Office PowerPoint</Application>
  <PresentationFormat>Panoramiczny</PresentationFormat>
  <Paragraphs>21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Motyw pakietu Office</vt:lpstr>
      <vt:lpstr>MSiD – Część2 - Raport</vt:lpstr>
      <vt:lpstr>Cel uczenia i dane wejściowe</vt:lpstr>
      <vt:lpstr>Badane modele</vt:lpstr>
      <vt:lpstr>Wyniki</vt:lpstr>
      <vt:lpstr>Wykluczenie bramkarzy</vt:lpstr>
      <vt:lpstr>Wyniki po wykluczeniu bramkarzy</vt:lpstr>
      <vt:lpstr>Podsumowanie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Mikołaj Marciniak (280602)</dc:creator>
  <cp:lastModifiedBy>Mikołaj Marciniak (280602)</cp:lastModifiedBy>
  <cp:revision>32</cp:revision>
  <dcterms:created xsi:type="dcterms:W3CDTF">2025-05-29T06:08:39Z</dcterms:created>
  <dcterms:modified xsi:type="dcterms:W3CDTF">2025-05-29T20:04:26Z</dcterms:modified>
</cp:coreProperties>
</file>